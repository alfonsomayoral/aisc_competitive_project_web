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 id="214748370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Arimo"/>
      <p:regular r:id="rId27"/>
      <p:bold r:id="rId28"/>
      <p:italic r:id="rId29"/>
      <p:boldItalic r:id="rId30"/>
    </p:embeddedFont>
    <p:embeddedFont>
      <p:font typeface="Arimo SemiBold"/>
      <p:regular r:id="rId31"/>
      <p:bold r:id="rId32"/>
      <p:italic r:id="rId33"/>
      <p:boldItalic r:id="rId34"/>
    </p:embeddedFont>
    <p:embeddedFont>
      <p:font typeface="Azeret Mono"/>
      <p:regular r:id="rId35"/>
      <p:bold r:id="rId36"/>
      <p:italic r:id="rId37"/>
      <p:boldItalic r:id="rId38"/>
    </p:embeddedFont>
    <p:embeddedFont>
      <p:font typeface="Arimo Medium"/>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moMedium-bold.fntdata"/><Relationship Id="rId20" Type="http://schemas.openxmlformats.org/officeDocument/2006/relationships/slide" Target="slides/slide14.xml"/><Relationship Id="rId42" Type="http://schemas.openxmlformats.org/officeDocument/2006/relationships/font" Target="fonts/ArimoMedium-boldItalic.fntdata"/><Relationship Id="rId41" Type="http://schemas.openxmlformats.org/officeDocument/2006/relationships/font" Target="fonts/ArimoMedium-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Arimo-bold.fntdata"/><Relationship Id="rId27" Type="http://schemas.openxmlformats.org/officeDocument/2006/relationships/font" Target="fonts/Arim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Arim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imoSemiBold-regular.fntdata"/><Relationship Id="rId30" Type="http://schemas.openxmlformats.org/officeDocument/2006/relationships/font" Target="fonts/Arimo-boldItalic.fntdata"/><Relationship Id="rId11" Type="http://schemas.openxmlformats.org/officeDocument/2006/relationships/slide" Target="slides/slide5.xml"/><Relationship Id="rId33" Type="http://schemas.openxmlformats.org/officeDocument/2006/relationships/font" Target="fonts/ArimoSemiBold-italic.fntdata"/><Relationship Id="rId10" Type="http://schemas.openxmlformats.org/officeDocument/2006/relationships/slide" Target="slides/slide4.xml"/><Relationship Id="rId32" Type="http://schemas.openxmlformats.org/officeDocument/2006/relationships/font" Target="fonts/ArimoSemiBold-bold.fntdata"/><Relationship Id="rId13" Type="http://schemas.openxmlformats.org/officeDocument/2006/relationships/slide" Target="slides/slide7.xml"/><Relationship Id="rId35" Type="http://schemas.openxmlformats.org/officeDocument/2006/relationships/font" Target="fonts/AzeretMono-regular.fntdata"/><Relationship Id="rId12" Type="http://schemas.openxmlformats.org/officeDocument/2006/relationships/slide" Target="slides/slide6.xml"/><Relationship Id="rId34" Type="http://schemas.openxmlformats.org/officeDocument/2006/relationships/font" Target="fonts/ArimoSemiBold-boldItalic.fntdata"/><Relationship Id="rId15" Type="http://schemas.openxmlformats.org/officeDocument/2006/relationships/slide" Target="slides/slide9.xml"/><Relationship Id="rId37" Type="http://schemas.openxmlformats.org/officeDocument/2006/relationships/font" Target="fonts/AzeretMono-italic.fntdata"/><Relationship Id="rId14" Type="http://schemas.openxmlformats.org/officeDocument/2006/relationships/slide" Target="slides/slide8.xml"/><Relationship Id="rId36" Type="http://schemas.openxmlformats.org/officeDocument/2006/relationships/font" Target="fonts/AzeretMono-bold.fntdata"/><Relationship Id="rId17" Type="http://schemas.openxmlformats.org/officeDocument/2006/relationships/slide" Target="slides/slide11.xml"/><Relationship Id="rId39" Type="http://schemas.openxmlformats.org/officeDocument/2006/relationships/font" Target="fonts/ArimoMedium-regular.fntdata"/><Relationship Id="rId16" Type="http://schemas.openxmlformats.org/officeDocument/2006/relationships/slide" Target="slides/slide10.xml"/><Relationship Id="rId38" Type="http://schemas.openxmlformats.org/officeDocument/2006/relationships/font" Target="fonts/AzeretMon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5bea7487e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5bea7487e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5bea7487e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5bea7487e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5bea7487e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5bea7487e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5bea7487e2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5bea7487e2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5d55ceede2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5d55ceede2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5d55ceede2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5d55ceede2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5dadc04a1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5dadc04a1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5dadc04a1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5dadc04a1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5bea7487e2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5bea7487e2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400"/>
              </a:spcBef>
              <a:spcAft>
                <a:spcPts val="0"/>
              </a:spcAft>
              <a:buClr>
                <a:schemeClr val="dk1"/>
              </a:buClr>
              <a:buSzPts val="1100"/>
              <a:buChar char="●"/>
            </a:pPr>
            <a:r>
              <a:rPr b="1" lang="en" sz="1300">
                <a:solidFill>
                  <a:schemeClr val="dk1"/>
                </a:solidFill>
              </a:rPr>
              <a:t>Whisper: Real-Time Multilingual Speech-to-Text Engine</a:t>
            </a:r>
            <a:endParaRPr b="1" sz="1300">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OpenAI’s open-source Transformer—trained on 680 000 hours of noisy, multilingual audio—listens, transcribes, and even translates speech in almost 100 languages as it happens. It outputs text tokens that carry 20 ms-resolution timestamps, so every word can be anchored to the exact video frame in which it is spoken, giving us an airtight bridge between sound, vision, and downstream analytics.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Real-time audio-video capture with Whisper</a:t>
            </a:r>
            <a:br>
              <a:rPr b="1" lang="en">
                <a:solidFill>
                  <a:schemeClr val="dk1"/>
                </a:solidFill>
              </a:rPr>
            </a:br>
            <a:r>
              <a:rPr lang="en">
                <a:solidFill>
                  <a:schemeClr val="dk1"/>
                </a:solidFill>
              </a:rPr>
              <a:t> Our platform records the microphone and webcam streams simultaneously, then feeds the raw audio straight into Whisper. Because the model begins emitting text tokens roughly two-tenths of a second after speech onset, captions appear almost live on-screen while the camera continues filming. Each token is stamped with its precise moment in the recording, letting us line up words with frames, identify who is speaking when, and later correlate facial expressions with specific phrases.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 lightning tour of Whisper’s history</a:t>
            </a:r>
            <a:br>
              <a:rPr b="1" lang="en">
                <a:solidFill>
                  <a:schemeClr val="dk1"/>
                </a:solidFill>
              </a:rPr>
            </a:br>
            <a:r>
              <a:rPr lang="en">
                <a:solidFill>
                  <a:schemeClr val="dk1"/>
                </a:solidFill>
              </a:rPr>
              <a:t> Whisper grew out of OpenAI’s earlier audio experiments—WaveNet for speech generation and Jukebox for music modelling—where they learned to scale up datasets and Transformer capacity. In September 2022 they bundled that know-how into Whisper, releasing five model sizes (tiny to large) under an MIT-style licence together with the 680 000-hour training recipe. Within months, developers ported it to ONNX, CoreML, WebGPU, and even browsers, turning Whisper into the de-facto baseline for open-source speech recognition.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How Whisper works under the hood</a:t>
            </a:r>
            <a:br>
              <a:rPr b="1" lang="en">
                <a:solidFill>
                  <a:schemeClr val="dk1"/>
                </a:solidFill>
              </a:rPr>
            </a:br>
            <a:r>
              <a:rPr lang="en">
                <a:solidFill>
                  <a:schemeClr val="dk1"/>
                </a:solidFill>
              </a:rPr>
              <a:t> The incoming waveform is first converted into a log-Mel spectrogram, then compressed by two quick Conv1D-plus-GELU layers. A stack of Transformer encoder blocks builds a language-agnostic acoustic representation, which is passed through cross-attention to a Transformer decoder. The decoder produces a sequence of special symbols: a start-of-transcript token, a language tag, a task tag (“TRANSCRIBE” or “TRANSLATE”), millisecond-accurate timestamp tokens every 20 ms, the regular text tokens, and finally an end-of-transcript token. Because Whisper was trained on four interleaved tasks—English transcription, speech-to-English translation, non-English transcription, and pure background-noise clips—it learned to identify languages, detect voice activity, and handle noisy recordings without any extra tuning.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Why Whisper is exactly what our project needs</a:t>
            </a:r>
            <a:br>
              <a:rPr b="1" lang="en">
                <a:solidFill>
                  <a:schemeClr val="dk1"/>
                </a:solidFill>
              </a:rPr>
            </a:br>
            <a:r>
              <a:rPr lang="en">
                <a:solidFill>
                  <a:schemeClr val="dk1"/>
                </a:solidFill>
              </a:rPr>
              <a:t> Those design choices map neatly onto our requirements. Live captions for multilingual meetings drop straight out of the model, with automatic language detection switching tongues on the fly. The 20 ms timestamps let us export perfect SRT or VTT subtitle files and drive word-level search inside recordings. Since the weights are open, we can quantise the smaller variants and run them entirely on mobile devices, satisfying privacy constraints by keeping raw audio off the cloud. Finally, the robustness Whisper gained from its 98-language training mix gives us an excellent starting point for low-resource dialects; if we still need extra accuracy, we can fine-tune on our own accent-rich data rather than building a recogniser from scratch.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With Whisper as the backbone, our system gains real-time, multilingual, and privacy-friendly speech intelligence—shrinking development timelines while expanding what users can do with their recorded conversations.</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5dadc04a1c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5dadc04a1c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5d55ceede2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5d55ceede2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5bea7487e2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5bea7487e2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5dadc04a1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5dadc04a1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5d55ceede2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5d55ceede2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5bea7487e2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5bea7487e2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5d6329be1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5d6329be1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5dadc04a1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5dadc04a1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5d55ceede2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5d55ceede2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5d55ceede2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5d55ceede2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5bea7487e2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5bea7487e2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55" name="Google Shape;55;p14"/>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56" name="Google Shape;56;p14"/>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57" name="Google Shape;57;p14"/>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58" name="Google Shape;58;p14"/>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59" name="Google Shape;59;p14"/>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0" name="Google Shape;60;p14"/>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1" name="Google Shape;61;p14"/>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62" name="Shape 62"/>
        <p:cNvGrpSpPr/>
        <p:nvPr/>
      </p:nvGrpSpPr>
      <p:grpSpPr>
        <a:xfrm>
          <a:off x="0" y="0"/>
          <a:ext cx="0" cy="0"/>
          <a:chOff x="0" y="0"/>
          <a:chExt cx="0" cy="0"/>
        </a:xfrm>
      </p:grpSpPr>
      <p:grpSp>
        <p:nvGrpSpPr>
          <p:cNvPr id="63" name="Google Shape;63;p15"/>
          <p:cNvGrpSpPr/>
          <p:nvPr/>
        </p:nvGrpSpPr>
        <p:grpSpPr>
          <a:xfrm>
            <a:off x="277515" y="277501"/>
            <a:ext cx="8589075" cy="4593888"/>
            <a:chOff x="277500" y="277500"/>
            <a:chExt cx="8589075" cy="4593888"/>
          </a:xfrm>
        </p:grpSpPr>
        <p:pic>
          <p:nvPicPr>
            <p:cNvPr id="64" name="Google Shape;64;p15"/>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65" name="Google Shape;65;p15"/>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66" name="Google Shape;66;p15"/>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67" name="Google Shape;67;p15"/>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68" name="Google Shape;68;p15"/>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69" name="Google Shape;69;p15"/>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70" name="Google Shape;70;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1" name="Google Shape;71;p15"/>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72" name="Shape 72"/>
        <p:cNvGrpSpPr/>
        <p:nvPr/>
      </p:nvGrpSpPr>
      <p:grpSpPr>
        <a:xfrm>
          <a:off x="0" y="0"/>
          <a:ext cx="0" cy="0"/>
          <a:chOff x="0" y="0"/>
          <a:chExt cx="0" cy="0"/>
        </a:xfrm>
      </p:grpSpPr>
      <p:sp>
        <p:nvSpPr>
          <p:cNvPr id="73" name="Google Shape;73;p16"/>
          <p:cNvSpPr/>
          <p:nvPr>
            <p:ph idx="2" type="pic"/>
          </p:nvPr>
        </p:nvSpPr>
        <p:spPr>
          <a:xfrm>
            <a:off x="277500" y="1963600"/>
            <a:ext cx="1333800" cy="1337100"/>
          </a:xfrm>
          <a:prstGeom prst="roundRect">
            <a:avLst>
              <a:gd fmla="val 14278" name="adj"/>
            </a:avLst>
          </a:prstGeom>
          <a:noFill/>
          <a:ln>
            <a:noFill/>
          </a:ln>
        </p:spPr>
      </p:sp>
      <p:sp>
        <p:nvSpPr>
          <p:cNvPr id="74" name="Google Shape;74;p16"/>
          <p:cNvSpPr/>
          <p:nvPr>
            <p:ph idx="3" type="pic"/>
          </p:nvPr>
        </p:nvSpPr>
        <p:spPr>
          <a:xfrm>
            <a:off x="1728225" y="1963600"/>
            <a:ext cx="1333800" cy="1337100"/>
          </a:xfrm>
          <a:prstGeom prst="roundRect">
            <a:avLst>
              <a:gd fmla="val 14278" name="adj"/>
            </a:avLst>
          </a:prstGeom>
          <a:noFill/>
          <a:ln>
            <a:noFill/>
          </a:ln>
        </p:spPr>
      </p:sp>
      <p:sp>
        <p:nvSpPr>
          <p:cNvPr id="75" name="Google Shape;75;p16"/>
          <p:cNvSpPr/>
          <p:nvPr>
            <p:ph idx="4" type="pic"/>
          </p:nvPr>
        </p:nvSpPr>
        <p:spPr>
          <a:xfrm>
            <a:off x="3179025" y="1963600"/>
            <a:ext cx="1333800" cy="1337100"/>
          </a:xfrm>
          <a:prstGeom prst="roundRect">
            <a:avLst>
              <a:gd fmla="val 14278" name="adj"/>
            </a:avLst>
          </a:prstGeom>
          <a:noFill/>
          <a:ln>
            <a:noFill/>
          </a:ln>
        </p:spPr>
      </p:sp>
      <p:sp>
        <p:nvSpPr>
          <p:cNvPr id="76" name="Google Shape;76;p16"/>
          <p:cNvSpPr/>
          <p:nvPr>
            <p:ph idx="5" type="pic"/>
          </p:nvPr>
        </p:nvSpPr>
        <p:spPr>
          <a:xfrm>
            <a:off x="4629825" y="1963600"/>
            <a:ext cx="1333800" cy="1337100"/>
          </a:xfrm>
          <a:prstGeom prst="roundRect">
            <a:avLst>
              <a:gd fmla="val 14278" name="adj"/>
            </a:avLst>
          </a:prstGeom>
          <a:noFill/>
          <a:ln>
            <a:noFill/>
          </a:ln>
        </p:spPr>
      </p:sp>
      <p:sp>
        <p:nvSpPr>
          <p:cNvPr id="77" name="Google Shape;77;p16"/>
          <p:cNvSpPr/>
          <p:nvPr>
            <p:ph idx="6" type="pic"/>
          </p:nvPr>
        </p:nvSpPr>
        <p:spPr>
          <a:xfrm>
            <a:off x="6080625" y="1963600"/>
            <a:ext cx="1333800" cy="1337100"/>
          </a:xfrm>
          <a:prstGeom prst="roundRect">
            <a:avLst>
              <a:gd fmla="val 14278" name="adj"/>
            </a:avLst>
          </a:prstGeom>
          <a:noFill/>
          <a:ln>
            <a:noFill/>
          </a:ln>
        </p:spPr>
      </p:sp>
      <p:sp>
        <p:nvSpPr>
          <p:cNvPr id="78" name="Google Shape;78;p16"/>
          <p:cNvSpPr/>
          <p:nvPr>
            <p:ph idx="7" type="pic"/>
          </p:nvPr>
        </p:nvSpPr>
        <p:spPr>
          <a:xfrm>
            <a:off x="7531425" y="1963600"/>
            <a:ext cx="1333800" cy="1337100"/>
          </a:xfrm>
          <a:prstGeom prst="roundRect">
            <a:avLst>
              <a:gd fmla="val 14278" name="adj"/>
            </a:avLst>
          </a:prstGeom>
          <a:noFill/>
          <a:ln>
            <a:noFill/>
          </a:ln>
        </p:spPr>
      </p:sp>
      <p:sp>
        <p:nvSpPr>
          <p:cNvPr id="79" name="Google Shape;79;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80" name="Google Shape;80;p16"/>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81" name="Google Shape;81;p16"/>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2" name="Google Shape;82;p16"/>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3" name="Google Shape;83;p16"/>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4" name="Google Shape;84;p16"/>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5" name="Google Shape;85;p16"/>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6" name="Google Shape;86;p16"/>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7" name="Google Shape;87;p16"/>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8" name="Google Shape;88;p16"/>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9" name="Google Shape;89;p16"/>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0" name="Google Shape;90;p16"/>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1" name="Google Shape;91;p16"/>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2" name="Google Shape;92;p16"/>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3" name="Google Shape;93;p16"/>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94" name="Google Shape;94;p16"/>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95" name="Shape 95"/>
        <p:cNvGrpSpPr/>
        <p:nvPr/>
      </p:nvGrpSpPr>
      <p:grpSpPr>
        <a:xfrm>
          <a:off x="0" y="0"/>
          <a:ext cx="0" cy="0"/>
          <a:chOff x="0" y="0"/>
          <a:chExt cx="0" cy="0"/>
        </a:xfrm>
      </p:grpSpPr>
      <p:sp>
        <p:nvSpPr>
          <p:cNvPr id="96" name="Google Shape;96;p17"/>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7" name="Google Shape;97;p17"/>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8" name="Google Shape;98;p17"/>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9" name="Google Shape;99;p17"/>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0" name="Google Shape;100;p17"/>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1" name="Google Shape;101;p17"/>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2" name="Google Shape;102;p17"/>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3" name="Google Shape;103;p17"/>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4" name="Google Shape;104;p17"/>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5" name="Google Shape;105;p17"/>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6" name="Google Shape;106;p17"/>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7" name="Google Shape;107;p17"/>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8" name="Google Shape;108;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09" name="Google Shape;109;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110" name="Shape 110"/>
        <p:cNvGrpSpPr/>
        <p:nvPr/>
      </p:nvGrpSpPr>
      <p:grpSpPr>
        <a:xfrm>
          <a:off x="0" y="0"/>
          <a:ext cx="0" cy="0"/>
          <a:chOff x="0" y="0"/>
          <a:chExt cx="0" cy="0"/>
        </a:xfrm>
      </p:grpSpPr>
      <p:sp>
        <p:nvSpPr>
          <p:cNvPr id="111" name="Google Shape;111;p18"/>
          <p:cNvSpPr/>
          <p:nvPr>
            <p:ph idx="2" type="pic"/>
          </p:nvPr>
        </p:nvSpPr>
        <p:spPr>
          <a:xfrm>
            <a:off x="0" y="0"/>
            <a:ext cx="9144000" cy="5143500"/>
          </a:xfrm>
          <a:prstGeom prst="rect">
            <a:avLst/>
          </a:prstGeom>
          <a:noFill/>
          <a:ln>
            <a:noFill/>
          </a:ln>
        </p:spPr>
      </p:sp>
      <p:sp>
        <p:nvSpPr>
          <p:cNvPr id="112" name="Google Shape;112;p18"/>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113" name="Google Shape;113;p1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14" name="Google Shape;114;p1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5" name="Google Shape;115;p18"/>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6" name="Google Shape;116;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117" name="Shape 117"/>
        <p:cNvGrpSpPr/>
        <p:nvPr/>
      </p:nvGrpSpPr>
      <p:grpSpPr>
        <a:xfrm>
          <a:off x="0" y="0"/>
          <a:ext cx="0" cy="0"/>
          <a:chOff x="0" y="0"/>
          <a:chExt cx="0" cy="0"/>
        </a:xfrm>
      </p:grpSpPr>
      <p:sp>
        <p:nvSpPr>
          <p:cNvPr id="118" name="Google Shape;118;p19"/>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119" name="Google Shape;119;p1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0" name="Google Shape;120;p1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1" name="Google Shape;121;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22" name="Google Shape;122;p19"/>
          <p:cNvSpPr/>
          <p:nvPr>
            <p:ph idx="3" type="pic"/>
          </p:nvPr>
        </p:nvSpPr>
        <p:spPr>
          <a:xfrm>
            <a:off x="3766700" y="873150"/>
            <a:ext cx="1621800" cy="3549600"/>
          </a:xfrm>
          <a:prstGeom prst="roundRect">
            <a:avLst>
              <a:gd fmla="val 10482" name="adj"/>
            </a:avLst>
          </a:prstGeom>
          <a:noFill/>
          <a:ln>
            <a:noFill/>
          </a:ln>
        </p:spPr>
      </p:sp>
      <p:sp>
        <p:nvSpPr>
          <p:cNvPr id="123" name="Google Shape;123;p19"/>
          <p:cNvSpPr/>
          <p:nvPr>
            <p:ph idx="4" type="pic"/>
          </p:nvPr>
        </p:nvSpPr>
        <p:spPr>
          <a:xfrm>
            <a:off x="289100" y="1324475"/>
            <a:ext cx="1563300" cy="2531100"/>
          </a:xfrm>
          <a:prstGeom prst="roundRect">
            <a:avLst>
              <a:gd fmla="val 11947" name="adj"/>
            </a:avLst>
          </a:prstGeom>
          <a:noFill/>
          <a:ln>
            <a:noFill/>
          </a:ln>
        </p:spPr>
      </p:sp>
      <p:sp>
        <p:nvSpPr>
          <p:cNvPr id="124" name="Google Shape;124;p19"/>
          <p:cNvSpPr/>
          <p:nvPr>
            <p:ph idx="5" type="pic"/>
          </p:nvPr>
        </p:nvSpPr>
        <p:spPr>
          <a:xfrm>
            <a:off x="1969400" y="1142650"/>
            <a:ext cx="1563300" cy="2531100"/>
          </a:xfrm>
          <a:prstGeom prst="roundRect">
            <a:avLst>
              <a:gd fmla="val 11947" name="adj"/>
            </a:avLst>
          </a:prstGeom>
          <a:noFill/>
          <a:ln>
            <a:noFill/>
          </a:ln>
        </p:spPr>
      </p:sp>
      <p:sp>
        <p:nvSpPr>
          <p:cNvPr id="125" name="Google Shape;125;p19"/>
          <p:cNvSpPr/>
          <p:nvPr>
            <p:ph idx="6" type="pic"/>
          </p:nvPr>
        </p:nvSpPr>
        <p:spPr>
          <a:xfrm>
            <a:off x="5623125" y="1142650"/>
            <a:ext cx="1563300" cy="2531100"/>
          </a:xfrm>
          <a:prstGeom prst="roundRect">
            <a:avLst>
              <a:gd fmla="val 11947" name="adj"/>
            </a:avLst>
          </a:prstGeom>
          <a:noFill/>
          <a:ln>
            <a:noFill/>
          </a:ln>
        </p:spPr>
      </p:sp>
      <p:sp>
        <p:nvSpPr>
          <p:cNvPr id="126" name="Google Shape;126;p19"/>
          <p:cNvSpPr/>
          <p:nvPr>
            <p:ph idx="7" type="pic"/>
          </p:nvPr>
        </p:nvSpPr>
        <p:spPr>
          <a:xfrm>
            <a:off x="7304050" y="1324475"/>
            <a:ext cx="1563300" cy="2531100"/>
          </a:xfrm>
          <a:prstGeom prst="roundRect">
            <a:avLst>
              <a:gd fmla="val 11947" name="adj"/>
            </a:avLst>
          </a:prstGeom>
          <a:noFill/>
          <a:ln>
            <a:noFill/>
          </a:ln>
        </p:spPr>
      </p:sp>
      <p:sp>
        <p:nvSpPr>
          <p:cNvPr id="127" name="Google Shape;127;p19"/>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28" name="Google Shape;128;p19"/>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29" name="Google Shape;129;p19"/>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0" name="Google Shape;130;p19"/>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1" name="Google Shape;131;p19"/>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2" name="Google Shape;132;p19"/>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3" name="Google Shape;133;p19"/>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4" name="Google Shape;134;p19"/>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135" name="Shape 135"/>
        <p:cNvGrpSpPr/>
        <p:nvPr/>
      </p:nvGrpSpPr>
      <p:grpSpPr>
        <a:xfrm>
          <a:off x="0" y="0"/>
          <a:ext cx="0" cy="0"/>
          <a:chOff x="0" y="0"/>
          <a:chExt cx="0" cy="0"/>
        </a:xfrm>
      </p:grpSpPr>
      <p:sp>
        <p:nvSpPr>
          <p:cNvPr id="136" name="Google Shape;136;p20"/>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7" name="Google Shape;137;p20"/>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8" name="Google Shape;138;p20"/>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9" name="Google Shape;139;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140" name="Shape 140"/>
        <p:cNvGrpSpPr/>
        <p:nvPr/>
      </p:nvGrpSpPr>
      <p:grpSpPr>
        <a:xfrm>
          <a:off x="0" y="0"/>
          <a:ext cx="0" cy="0"/>
          <a:chOff x="0" y="0"/>
          <a:chExt cx="0" cy="0"/>
        </a:xfrm>
      </p:grpSpPr>
      <p:pic>
        <p:nvPicPr>
          <p:cNvPr id="141" name="Google Shape;141;p21"/>
          <p:cNvPicPr preferRelativeResize="0"/>
          <p:nvPr/>
        </p:nvPicPr>
        <p:blipFill rotWithShape="1">
          <a:blip r:embed="rId2">
            <a:alphaModFix amt="10000"/>
          </a:blip>
          <a:srcRect b="720" l="1068" r="19" t="592"/>
          <a:stretch/>
        </p:blipFill>
        <p:spPr>
          <a:xfrm>
            <a:off x="277425" y="277650"/>
            <a:ext cx="8588100" cy="4582500"/>
          </a:xfrm>
          <a:prstGeom prst="roundRect">
            <a:avLst>
              <a:gd fmla="val 13460" name="adj"/>
            </a:avLst>
          </a:prstGeom>
          <a:noFill/>
          <a:ln>
            <a:noFill/>
          </a:ln>
        </p:spPr>
      </p:pic>
      <p:sp>
        <p:nvSpPr>
          <p:cNvPr id="142" name="Google Shape;142;p21"/>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143" name="Google Shape;143;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144" name="Shape 144"/>
        <p:cNvGrpSpPr/>
        <p:nvPr/>
      </p:nvGrpSpPr>
      <p:grpSpPr>
        <a:xfrm>
          <a:off x="0" y="0"/>
          <a:ext cx="0" cy="0"/>
          <a:chOff x="0" y="0"/>
          <a:chExt cx="0" cy="0"/>
        </a:xfrm>
      </p:grpSpPr>
      <p:sp>
        <p:nvSpPr>
          <p:cNvPr id="145" name="Google Shape;145;p22"/>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6" name="Google Shape;146;p22"/>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7" name="Google Shape;147;p22"/>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8" name="Google Shape;148;p22"/>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9" name="Google Shape;149;p22"/>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0" name="Google Shape;150;p22"/>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1" name="Google Shape;151;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52" name="Shape 152"/>
        <p:cNvGrpSpPr/>
        <p:nvPr/>
      </p:nvGrpSpPr>
      <p:grpSpPr>
        <a:xfrm>
          <a:off x="0" y="0"/>
          <a:ext cx="0" cy="0"/>
          <a:chOff x="0" y="0"/>
          <a:chExt cx="0" cy="0"/>
        </a:xfrm>
      </p:grpSpPr>
      <p:sp>
        <p:nvSpPr>
          <p:cNvPr id="153" name="Google Shape;153;p23"/>
          <p:cNvSpPr/>
          <p:nvPr>
            <p:ph idx="2" type="pic"/>
          </p:nvPr>
        </p:nvSpPr>
        <p:spPr>
          <a:xfrm>
            <a:off x="7480825" y="734600"/>
            <a:ext cx="1383900" cy="1660200"/>
          </a:xfrm>
          <a:prstGeom prst="roundRect">
            <a:avLst>
              <a:gd fmla="val 11646" name="adj"/>
            </a:avLst>
          </a:prstGeom>
          <a:noFill/>
          <a:ln>
            <a:noFill/>
          </a:ln>
        </p:spPr>
      </p:sp>
      <p:sp>
        <p:nvSpPr>
          <p:cNvPr id="154" name="Google Shape;154;p23"/>
          <p:cNvSpPr/>
          <p:nvPr>
            <p:ph idx="3" type="pic"/>
          </p:nvPr>
        </p:nvSpPr>
        <p:spPr>
          <a:xfrm>
            <a:off x="7480825" y="2521175"/>
            <a:ext cx="1383900" cy="1879200"/>
          </a:xfrm>
          <a:prstGeom prst="roundRect">
            <a:avLst>
              <a:gd fmla="val 11646" name="adj"/>
            </a:avLst>
          </a:prstGeom>
          <a:noFill/>
          <a:ln>
            <a:noFill/>
          </a:ln>
        </p:spPr>
      </p:sp>
      <p:sp>
        <p:nvSpPr>
          <p:cNvPr id="155" name="Google Shape;155;p23"/>
          <p:cNvSpPr/>
          <p:nvPr>
            <p:ph idx="4" type="pic"/>
          </p:nvPr>
        </p:nvSpPr>
        <p:spPr>
          <a:xfrm>
            <a:off x="4665550" y="850900"/>
            <a:ext cx="2589300" cy="3433200"/>
          </a:xfrm>
          <a:prstGeom prst="roundRect">
            <a:avLst>
              <a:gd fmla="val 6330" name="adj"/>
            </a:avLst>
          </a:prstGeom>
          <a:noFill/>
          <a:ln>
            <a:noFill/>
          </a:ln>
        </p:spPr>
      </p:sp>
      <p:sp>
        <p:nvSpPr>
          <p:cNvPr id="156" name="Google Shape;156;p2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7" name="Google Shape;157;p23"/>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8" name="Google Shape;158;p2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9" name="Google Shape;159;p23"/>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2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61" name="Shape 161"/>
        <p:cNvGrpSpPr/>
        <p:nvPr/>
      </p:nvGrpSpPr>
      <p:grpSpPr>
        <a:xfrm>
          <a:off x="0" y="0"/>
          <a:ext cx="0" cy="0"/>
          <a:chOff x="0" y="0"/>
          <a:chExt cx="0" cy="0"/>
        </a:xfrm>
      </p:grpSpPr>
      <p:sp>
        <p:nvSpPr>
          <p:cNvPr id="162" name="Google Shape;162;p24"/>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63" name="Google Shape;163;p24"/>
          <p:cNvSpPr/>
          <p:nvPr>
            <p:ph idx="2" type="pic"/>
          </p:nvPr>
        </p:nvSpPr>
        <p:spPr>
          <a:xfrm>
            <a:off x="6220309" y="696000"/>
            <a:ext cx="2532900" cy="3358800"/>
          </a:xfrm>
          <a:prstGeom prst="roundRect">
            <a:avLst>
              <a:gd fmla="val 7223" name="adj"/>
            </a:avLst>
          </a:prstGeom>
          <a:noFill/>
          <a:ln>
            <a:noFill/>
          </a:ln>
        </p:spPr>
      </p:sp>
      <p:sp>
        <p:nvSpPr>
          <p:cNvPr id="164" name="Google Shape;164;p24"/>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5" name="Google Shape;165;p24"/>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6" name="Google Shape;166;p2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7" name="Google Shape;167;p24"/>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8" name="Google Shape;168;p2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69" name="Shape 169"/>
        <p:cNvGrpSpPr/>
        <p:nvPr/>
      </p:nvGrpSpPr>
      <p:grpSpPr>
        <a:xfrm>
          <a:off x="0" y="0"/>
          <a:ext cx="0" cy="0"/>
          <a:chOff x="0" y="0"/>
          <a:chExt cx="0" cy="0"/>
        </a:xfrm>
      </p:grpSpPr>
      <p:sp>
        <p:nvSpPr>
          <p:cNvPr id="170" name="Google Shape;170;p25"/>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1" name="Google Shape;171;p25"/>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2" name="Google Shape;172;p2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3" name="Google Shape;173;p25"/>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4" name="Google Shape;174;p2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75" name="Shape 175"/>
        <p:cNvGrpSpPr/>
        <p:nvPr/>
      </p:nvGrpSpPr>
      <p:grpSpPr>
        <a:xfrm>
          <a:off x="0" y="0"/>
          <a:ext cx="0" cy="0"/>
          <a:chOff x="0" y="0"/>
          <a:chExt cx="0" cy="0"/>
        </a:xfrm>
      </p:grpSpPr>
      <p:sp>
        <p:nvSpPr>
          <p:cNvPr id="176" name="Google Shape;176;p2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7" name="Google Shape;177;p2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8" name="Google Shape;178;p26"/>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9" name="Google Shape;179;p2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80" name="Google Shape;180;p26"/>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1" name="Google Shape;181;p26"/>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2" name="Google Shape;182;p26"/>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83" name="Google Shape;183;p26"/>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84" name="Shape 184"/>
        <p:cNvGrpSpPr/>
        <p:nvPr/>
      </p:nvGrpSpPr>
      <p:grpSpPr>
        <a:xfrm>
          <a:off x="0" y="0"/>
          <a:ext cx="0" cy="0"/>
          <a:chOff x="0" y="0"/>
          <a:chExt cx="0" cy="0"/>
        </a:xfrm>
      </p:grpSpPr>
      <p:sp>
        <p:nvSpPr>
          <p:cNvPr id="185" name="Google Shape;185;p27"/>
          <p:cNvSpPr/>
          <p:nvPr>
            <p:ph idx="2" type="pic"/>
          </p:nvPr>
        </p:nvSpPr>
        <p:spPr>
          <a:xfrm>
            <a:off x="502800" y="2080575"/>
            <a:ext cx="603600" cy="603600"/>
          </a:xfrm>
          <a:prstGeom prst="ellipse">
            <a:avLst/>
          </a:prstGeom>
          <a:noFill/>
          <a:ln>
            <a:noFill/>
          </a:ln>
        </p:spPr>
      </p:sp>
      <p:sp>
        <p:nvSpPr>
          <p:cNvPr id="186" name="Google Shape;186;p27"/>
          <p:cNvSpPr/>
          <p:nvPr>
            <p:ph idx="3" type="pic"/>
          </p:nvPr>
        </p:nvSpPr>
        <p:spPr>
          <a:xfrm>
            <a:off x="6334750" y="2080575"/>
            <a:ext cx="603600" cy="603600"/>
          </a:xfrm>
          <a:prstGeom prst="ellipse">
            <a:avLst/>
          </a:prstGeom>
          <a:noFill/>
          <a:ln>
            <a:noFill/>
          </a:ln>
        </p:spPr>
      </p:sp>
      <p:sp>
        <p:nvSpPr>
          <p:cNvPr id="187" name="Google Shape;187;p27"/>
          <p:cNvSpPr/>
          <p:nvPr>
            <p:ph idx="4" type="pic"/>
          </p:nvPr>
        </p:nvSpPr>
        <p:spPr>
          <a:xfrm>
            <a:off x="3418775" y="2080550"/>
            <a:ext cx="603600" cy="603600"/>
          </a:xfrm>
          <a:prstGeom prst="ellipse">
            <a:avLst/>
          </a:prstGeom>
          <a:noFill/>
          <a:ln>
            <a:noFill/>
          </a:ln>
        </p:spPr>
      </p:sp>
      <p:sp>
        <p:nvSpPr>
          <p:cNvPr id="188" name="Google Shape;188;p2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89" name="Google Shape;189;p2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0" name="Google Shape;190;p27"/>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1" name="Google Shape;191;p2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92" name="Google Shape;192;p27"/>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3" name="Google Shape;193;p27"/>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4" name="Google Shape;194;p27"/>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5" name="Google Shape;195;p27"/>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6" name="Google Shape;196;p27"/>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7" name="Google Shape;197;p27"/>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98" name="Shape 198"/>
        <p:cNvGrpSpPr/>
        <p:nvPr/>
      </p:nvGrpSpPr>
      <p:grpSpPr>
        <a:xfrm>
          <a:off x="0" y="0"/>
          <a:ext cx="0" cy="0"/>
          <a:chOff x="0" y="0"/>
          <a:chExt cx="0" cy="0"/>
        </a:xfrm>
      </p:grpSpPr>
      <p:sp>
        <p:nvSpPr>
          <p:cNvPr id="199" name="Google Shape;199;p28"/>
          <p:cNvSpPr/>
          <p:nvPr>
            <p:ph idx="2" type="pic"/>
          </p:nvPr>
        </p:nvSpPr>
        <p:spPr>
          <a:xfrm>
            <a:off x="4644850" y="1299225"/>
            <a:ext cx="1037700" cy="1056300"/>
          </a:xfrm>
          <a:prstGeom prst="roundRect">
            <a:avLst>
              <a:gd fmla="val 12807" name="adj"/>
            </a:avLst>
          </a:prstGeom>
          <a:noFill/>
          <a:ln>
            <a:noFill/>
          </a:ln>
        </p:spPr>
      </p:sp>
      <p:sp>
        <p:nvSpPr>
          <p:cNvPr id="200" name="Google Shape;200;p28"/>
          <p:cNvSpPr/>
          <p:nvPr>
            <p:ph idx="3" type="pic"/>
          </p:nvPr>
        </p:nvSpPr>
        <p:spPr>
          <a:xfrm>
            <a:off x="4644850" y="3642825"/>
            <a:ext cx="1037700" cy="1056300"/>
          </a:xfrm>
          <a:prstGeom prst="roundRect">
            <a:avLst>
              <a:gd fmla="val 12807" name="adj"/>
            </a:avLst>
          </a:prstGeom>
          <a:noFill/>
          <a:ln>
            <a:noFill/>
          </a:ln>
        </p:spPr>
      </p:sp>
      <p:sp>
        <p:nvSpPr>
          <p:cNvPr id="201" name="Google Shape;201;p28"/>
          <p:cNvSpPr/>
          <p:nvPr>
            <p:ph idx="4" type="pic"/>
          </p:nvPr>
        </p:nvSpPr>
        <p:spPr>
          <a:xfrm>
            <a:off x="7828875" y="2471025"/>
            <a:ext cx="1037700" cy="1056300"/>
          </a:xfrm>
          <a:prstGeom prst="roundRect">
            <a:avLst>
              <a:gd fmla="val 12807" name="adj"/>
            </a:avLst>
          </a:prstGeom>
          <a:noFill/>
          <a:ln>
            <a:noFill/>
          </a:ln>
        </p:spPr>
      </p:sp>
      <p:sp>
        <p:nvSpPr>
          <p:cNvPr id="202" name="Google Shape;202;p28"/>
          <p:cNvSpPr/>
          <p:nvPr>
            <p:ph idx="5" type="pic"/>
          </p:nvPr>
        </p:nvSpPr>
        <p:spPr>
          <a:xfrm>
            <a:off x="373175" y="1147525"/>
            <a:ext cx="3579900" cy="3607500"/>
          </a:xfrm>
          <a:prstGeom prst="roundRect">
            <a:avLst>
              <a:gd fmla="val 11548" name="adj"/>
            </a:avLst>
          </a:prstGeom>
          <a:noFill/>
          <a:ln>
            <a:noFill/>
          </a:ln>
        </p:spPr>
      </p:sp>
      <p:sp>
        <p:nvSpPr>
          <p:cNvPr id="203" name="Google Shape;203;p28"/>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4" name="Google Shape;204;p2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5" name="Google Shape;205;p28"/>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6" name="Google Shape;206;p2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07" name="Google Shape;207;p28"/>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08" name="Google Shape;208;p28"/>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09" name="Google Shape;209;p28"/>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0" name="Google Shape;210;p28"/>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11" name="Google Shape;211;p28"/>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2" name="Google Shape;212;p28"/>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213" name="Shape 213"/>
        <p:cNvGrpSpPr/>
        <p:nvPr/>
      </p:nvGrpSpPr>
      <p:grpSpPr>
        <a:xfrm>
          <a:off x="0" y="0"/>
          <a:ext cx="0" cy="0"/>
          <a:chOff x="0" y="0"/>
          <a:chExt cx="0" cy="0"/>
        </a:xfrm>
      </p:grpSpPr>
      <p:sp>
        <p:nvSpPr>
          <p:cNvPr id="214" name="Google Shape;214;p2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15" name="Google Shape;215;p2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6" name="Google Shape;216;p2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7" name="Google Shape;217;p2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18" name="Google Shape;218;p29"/>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9" name="Google Shape;219;p29"/>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0" name="Google Shape;220;p29"/>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1" name="Google Shape;221;p29"/>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2" name="Google Shape;222;p29"/>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3" name="Google Shape;223;p29"/>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4" name="Google Shape;224;p29"/>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5" name="Google Shape;225;p29"/>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226" name="Shape 226"/>
        <p:cNvGrpSpPr/>
        <p:nvPr/>
      </p:nvGrpSpPr>
      <p:grpSpPr>
        <a:xfrm>
          <a:off x="0" y="0"/>
          <a:ext cx="0" cy="0"/>
          <a:chOff x="0" y="0"/>
          <a:chExt cx="0" cy="0"/>
        </a:xfrm>
      </p:grpSpPr>
      <p:sp>
        <p:nvSpPr>
          <p:cNvPr id="227" name="Google Shape;227;p30"/>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28" name="Google Shape;228;p30"/>
          <p:cNvSpPr/>
          <p:nvPr>
            <p:ph idx="2" type="pic"/>
          </p:nvPr>
        </p:nvSpPr>
        <p:spPr>
          <a:xfrm>
            <a:off x="392100" y="411300"/>
            <a:ext cx="4297500" cy="4333200"/>
          </a:xfrm>
          <a:prstGeom prst="roundRect">
            <a:avLst>
              <a:gd fmla="val 12298" name="adj"/>
            </a:avLst>
          </a:prstGeom>
          <a:noFill/>
          <a:ln>
            <a:noFill/>
          </a:ln>
        </p:spPr>
      </p:sp>
      <p:sp>
        <p:nvSpPr>
          <p:cNvPr id="229" name="Google Shape;229;p3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30" name="Google Shape;230;p3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231" name="Shape 231"/>
        <p:cNvGrpSpPr/>
        <p:nvPr/>
      </p:nvGrpSpPr>
      <p:grpSpPr>
        <a:xfrm>
          <a:off x="0" y="0"/>
          <a:ext cx="0" cy="0"/>
          <a:chOff x="0" y="0"/>
          <a:chExt cx="0" cy="0"/>
        </a:xfrm>
      </p:grpSpPr>
      <p:sp>
        <p:nvSpPr>
          <p:cNvPr id="232" name="Google Shape;232;p31"/>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3" name="Google Shape;233;p31"/>
          <p:cNvSpPr/>
          <p:nvPr>
            <p:ph idx="2" type="pic"/>
          </p:nvPr>
        </p:nvSpPr>
        <p:spPr>
          <a:xfrm>
            <a:off x="289100" y="1685250"/>
            <a:ext cx="1751100" cy="1773000"/>
          </a:xfrm>
          <a:prstGeom prst="roundRect">
            <a:avLst>
              <a:gd fmla="val 11894" name="adj"/>
            </a:avLst>
          </a:prstGeom>
          <a:noFill/>
          <a:ln>
            <a:noFill/>
          </a:ln>
        </p:spPr>
      </p:sp>
      <p:sp>
        <p:nvSpPr>
          <p:cNvPr id="234" name="Google Shape;234;p31"/>
          <p:cNvSpPr/>
          <p:nvPr>
            <p:ph idx="3" type="pic"/>
          </p:nvPr>
        </p:nvSpPr>
        <p:spPr>
          <a:xfrm>
            <a:off x="2152200" y="1685250"/>
            <a:ext cx="1751100" cy="1773000"/>
          </a:xfrm>
          <a:prstGeom prst="roundRect">
            <a:avLst>
              <a:gd fmla="val 11894" name="adj"/>
            </a:avLst>
          </a:prstGeom>
          <a:noFill/>
          <a:ln>
            <a:noFill/>
          </a:ln>
        </p:spPr>
      </p:sp>
      <p:sp>
        <p:nvSpPr>
          <p:cNvPr id="235" name="Google Shape;235;p31"/>
          <p:cNvSpPr/>
          <p:nvPr>
            <p:ph idx="4" type="pic"/>
          </p:nvPr>
        </p:nvSpPr>
        <p:spPr>
          <a:xfrm>
            <a:off x="4015300" y="1685250"/>
            <a:ext cx="1751100" cy="1773000"/>
          </a:xfrm>
          <a:prstGeom prst="roundRect">
            <a:avLst>
              <a:gd fmla="val 11894" name="adj"/>
            </a:avLst>
          </a:prstGeom>
          <a:noFill/>
          <a:ln>
            <a:noFill/>
          </a:ln>
        </p:spPr>
      </p:sp>
      <p:sp>
        <p:nvSpPr>
          <p:cNvPr id="236" name="Google Shape;236;p31"/>
          <p:cNvSpPr/>
          <p:nvPr>
            <p:ph idx="5" type="pic"/>
          </p:nvPr>
        </p:nvSpPr>
        <p:spPr>
          <a:xfrm>
            <a:off x="5866250" y="1685250"/>
            <a:ext cx="1751100" cy="1773000"/>
          </a:xfrm>
          <a:prstGeom prst="roundRect">
            <a:avLst>
              <a:gd fmla="val 11894" name="adj"/>
            </a:avLst>
          </a:prstGeom>
          <a:noFill/>
          <a:ln>
            <a:noFill/>
          </a:ln>
        </p:spPr>
      </p:sp>
      <p:sp>
        <p:nvSpPr>
          <p:cNvPr id="237" name="Google Shape;237;p31"/>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238" name="Google Shape;238;p31"/>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9" name="Google Shape;239;p31"/>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0" name="Google Shape;240;p31"/>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31"/>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2" name="Google Shape;242;p31"/>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31"/>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4" name="Google Shape;244;p31"/>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31"/>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31"/>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3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48" name="Shape 248"/>
        <p:cNvGrpSpPr/>
        <p:nvPr/>
      </p:nvGrpSpPr>
      <p:grpSpPr>
        <a:xfrm>
          <a:off x="0" y="0"/>
          <a:ext cx="0" cy="0"/>
          <a:chOff x="0" y="0"/>
          <a:chExt cx="0" cy="0"/>
        </a:xfrm>
      </p:grpSpPr>
      <p:sp>
        <p:nvSpPr>
          <p:cNvPr id="249" name="Google Shape;249;p32"/>
          <p:cNvSpPr/>
          <p:nvPr>
            <p:ph idx="2" type="pic"/>
          </p:nvPr>
        </p:nvSpPr>
        <p:spPr>
          <a:xfrm>
            <a:off x="392100" y="411300"/>
            <a:ext cx="4915800" cy="4333200"/>
          </a:xfrm>
          <a:prstGeom prst="roundRect">
            <a:avLst>
              <a:gd fmla="val 11160" name="adj"/>
            </a:avLst>
          </a:prstGeom>
          <a:noFill/>
          <a:ln>
            <a:noFill/>
          </a:ln>
        </p:spPr>
      </p:sp>
      <p:sp>
        <p:nvSpPr>
          <p:cNvPr id="250" name="Google Shape;250;p32"/>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1" name="Google Shape;251;p32"/>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2" name="Google Shape;252;p32"/>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53" name="Google Shape;253;p3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54" name="Shape 254"/>
        <p:cNvGrpSpPr/>
        <p:nvPr/>
      </p:nvGrpSpPr>
      <p:grpSpPr>
        <a:xfrm>
          <a:off x="0" y="0"/>
          <a:ext cx="0" cy="0"/>
          <a:chOff x="0" y="0"/>
          <a:chExt cx="0" cy="0"/>
        </a:xfrm>
      </p:grpSpPr>
      <p:sp>
        <p:nvSpPr>
          <p:cNvPr id="255" name="Google Shape;255;p33"/>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6" name="Google Shape;256;p33"/>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7" name="Google Shape;257;p33"/>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58" name="Google Shape;258;p33"/>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59" name="Google Shape;259;p33"/>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60" name="Google Shape;260;p33"/>
          <p:cNvSpPr/>
          <p:nvPr>
            <p:ph idx="2" type="pic"/>
          </p:nvPr>
        </p:nvSpPr>
        <p:spPr>
          <a:xfrm>
            <a:off x="3910200" y="3408075"/>
            <a:ext cx="3486300" cy="1447800"/>
          </a:xfrm>
          <a:prstGeom prst="roundRect">
            <a:avLst>
              <a:gd fmla="val 16397" name="adj"/>
            </a:avLst>
          </a:prstGeom>
          <a:noFill/>
          <a:ln>
            <a:noFill/>
          </a:ln>
        </p:spPr>
      </p:sp>
      <p:sp>
        <p:nvSpPr>
          <p:cNvPr id="261" name="Google Shape;261;p33"/>
          <p:cNvSpPr/>
          <p:nvPr>
            <p:ph idx="3" type="pic"/>
          </p:nvPr>
        </p:nvSpPr>
        <p:spPr>
          <a:xfrm>
            <a:off x="277500" y="277500"/>
            <a:ext cx="2765700" cy="3013800"/>
          </a:xfrm>
          <a:prstGeom prst="roundRect">
            <a:avLst>
              <a:gd fmla="val 8721" name="adj"/>
            </a:avLst>
          </a:prstGeom>
          <a:noFill/>
          <a:ln>
            <a:noFill/>
          </a:ln>
        </p:spPr>
      </p:sp>
      <p:sp>
        <p:nvSpPr>
          <p:cNvPr id="262" name="Google Shape;262;p33"/>
          <p:cNvSpPr/>
          <p:nvPr>
            <p:ph idx="4" type="pic"/>
          </p:nvPr>
        </p:nvSpPr>
        <p:spPr>
          <a:xfrm>
            <a:off x="3161225" y="277500"/>
            <a:ext cx="1350600" cy="1447800"/>
          </a:xfrm>
          <a:prstGeom prst="roundRect">
            <a:avLst>
              <a:gd fmla="val 15267" name="adj"/>
            </a:avLst>
          </a:prstGeom>
          <a:noFill/>
          <a:ln>
            <a:noFill/>
          </a:ln>
        </p:spPr>
      </p:sp>
      <p:sp>
        <p:nvSpPr>
          <p:cNvPr id="263" name="Google Shape;263;p33"/>
          <p:cNvSpPr/>
          <p:nvPr>
            <p:ph idx="5" type="pic"/>
          </p:nvPr>
        </p:nvSpPr>
        <p:spPr>
          <a:xfrm>
            <a:off x="6883575" y="399550"/>
            <a:ext cx="1866000" cy="2775000"/>
          </a:xfrm>
          <a:prstGeom prst="roundRect">
            <a:avLst>
              <a:gd fmla="val 9097" name="adj"/>
            </a:avLst>
          </a:prstGeom>
          <a:noFill/>
          <a:ln>
            <a:noFill/>
          </a:ln>
        </p:spPr>
      </p:sp>
      <p:sp>
        <p:nvSpPr>
          <p:cNvPr id="264" name="Google Shape;264;p33"/>
          <p:cNvSpPr/>
          <p:nvPr>
            <p:ph idx="6" type="pic"/>
          </p:nvPr>
        </p:nvSpPr>
        <p:spPr>
          <a:xfrm>
            <a:off x="7516025" y="3407700"/>
            <a:ext cx="1350600" cy="1447800"/>
          </a:xfrm>
          <a:prstGeom prst="roundRect">
            <a:avLst>
              <a:gd fmla="val 16397" name="adj"/>
            </a:avLst>
          </a:prstGeom>
          <a:noFill/>
          <a:ln>
            <a:noFill/>
          </a:ln>
        </p:spPr>
      </p:sp>
      <p:sp>
        <p:nvSpPr>
          <p:cNvPr id="265" name="Google Shape;265;p33"/>
          <p:cNvSpPr/>
          <p:nvPr>
            <p:ph idx="7" type="pic"/>
          </p:nvPr>
        </p:nvSpPr>
        <p:spPr>
          <a:xfrm>
            <a:off x="394425" y="3528475"/>
            <a:ext cx="3279600" cy="1218900"/>
          </a:xfrm>
          <a:prstGeom prst="roundRect">
            <a:avLst>
              <a:gd fmla="val 11412" name="adj"/>
            </a:avLst>
          </a:prstGeom>
          <a:noFill/>
          <a:ln>
            <a:noFill/>
          </a:ln>
        </p:spPr>
      </p:sp>
      <p:sp>
        <p:nvSpPr>
          <p:cNvPr id="266" name="Google Shape;266;p33"/>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67" name="Google Shape;267;p33"/>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68" name="Google Shape;268;p33"/>
          <p:cNvCxnSpPr>
            <a:stCxn id="266" idx="1"/>
            <a:endCxn id="266"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69" name="Google Shape;269;p33"/>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70" name="Google Shape;270;p33"/>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71" name="Google Shape;271;p33"/>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2" name="Google Shape;272;p33"/>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73" name="Google Shape;273;p33"/>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74" name="Google Shape;274;p33"/>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75" name="Google Shape;275;p33"/>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6" name="Google Shape;276;p33"/>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7" name="Google Shape;277;p33"/>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8" name="Google Shape;278;p33"/>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9" name="Google Shape;279;p33"/>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80" name="Google Shape;280;p3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81" name="Google Shape;281;p33"/>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82" name="Shape 282"/>
        <p:cNvGrpSpPr/>
        <p:nvPr/>
      </p:nvGrpSpPr>
      <p:grpSpPr>
        <a:xfrm>
          <a:off x="0" y="0"/>
          <a:ext cx="0" cy="0"/>
          <a:chOff x="0" y="0"/>
          <a:chExt cx="0" cy="0"/>
        </a:xfrm>
      </p:grpSpPr>
      <p:sp>
        <p:nvSpPr>
          <p:cNvPr id="283" name="Google Shape;283;p34"/>
          <p:cNvSpPr/>
          <p:nvPr>
            <p:ph idx="2" type="pic"/>
          </p:nvPr>
        </p:nvSpPr>
        <p:spPr>
          <a:xfrm>
            <a:off x="2021325" y="1854425"/>
            <a:ext cx="1679100" cy="3013800"/>
          </a:xfrm>
          <a:prstGeom prst="roundRect">
            <a:avLst>
              <a:gd fmla="val 13643" name="adj"/>
            </a:avLst>
          </a:prstGeom>
          <a:noFill/>
          <a:ln>
            <a:noFill/>
          </a:ln>
        </p:spPr>
      </p:sp>
      <p:sp>
        <p:nvSpPr>
          <p:cNvPr id="284" name="Google Shape;284;p34"/>
          <p:cNvSpPr/>
          <p:nvPr>
            <p:ph idx="3" type="pic"/>
          </p:nvPr>
        </p:nvSpPr>
        <p:spPr>
          <a:xfrm>
            <a:off x="5444400" y="1854425"/>
            <a:ext cx="1679100" cy="3013800"/>
          </a:xfrm>
          <a:prstGeom prst="roundRect">
            <a:avLst>
              <a:gd fmla="val 13643" name="adj"/>
            </a:avLst>
          </a:prstGeom>
          <a:noFill/>
          <a:ln>
            <a:noFill/>
          </a:ln>
        </p:spPr>
      </p:sp>
      <p:sp>
        <p:nvSpPr>
          <p:cNvPr id="285" name="Google Shape;285;p34"/>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6" name="Google Shape;286;p34"/>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7" name="Google Shape;287;p34"/>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8" name="Google Shape;288;p34"/>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9" name="Google Shape;289;p3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90" name="Google Shape;290;p34"/>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1" name="Google Shape;291;p34"/>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2" name="Google Shape;292;p3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3" name="Shape 293"/>
        <p:cNvGrpSpPr/>
        <p:nvPr/>
      </p:nvGrpSpPr>
      <p:grpSpPr>
        <a:xfrm>
          <a:off x="0" y="0"/>
          <a:ext cx="0" cy="0"/>
          <a:chOff x="0" y="0"/>
          <a:chExt cx="0" cy="0"/>
        </a:xfrm>
      </p:grpSpPr>
      <p:sp>
        <p:nvSpPr>
          <p:cNvPr id="294" name="Google Shape;294;p35"/>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95" name="Google Shape;295;p35"/>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6" name="Shape 296"/>
        <p:cNvGrpSpPr/>
        <p:nvPr/>
      </p:nvGrpSpPr>
      <p:grpSpPr>
        <a:xfrm>
          <a:off x="0" y="0"/>
          <a:ext cx="0" cy="0"/>
          <a:chOff x="0" y="0"/>
          <a:chExt cx="0" cy="0"/>
        </a:xfrm>
      </p:grpSpPr>
      <p:sp>
        <p:nvSpPr>
          <p:cNvPr id="297" name="Google Shape;297;p36"/>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98" name="Shape 298"/>
        <p:cNvGrpSpPr/>
        <p:nvPr/>
      </p:nvGrpSpPr>
      <p:grpSpPr>
        <a:xfrm>
          <a:off x="0" y="0"/>
          <a:ext cx="0" cy="0"/>
          <a:chOff x="0" y="0"/>
          <a:chExt cx="0" cy="0"/>
        </a:xfrm>
      </p:grpSpPr>
      <p:sp>
        <p:nvSpPr>
          <p:cNvPr id="299" name="Google Shape;299;p3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0" name="Google Shape;300;p37"/>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01" name="Shape 301"/>
        <p:cNvGrpSpPr/>
        <p:nvPr/>
      </p:nvGrpSpPr>
      <p:grpSpPr>
        <a:xfrm>
          <a:off x="0" y="0"/>
          <a:ext cx="0" cy="0"/>
          <a:chOff x="0" y="0"/>
          <a:chExt cx="0" cy="0"/>
        </a:xfrm>
      </p:grpSpPr>
      <p:sp>
        <p:nvSpPr>
          <p:cNvPr id="302" name="Google Shape;302;p38"/>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3" name="Google Shape;303;p38"/>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4" name="Google Shape;304;p38"/>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09" name="Google Shape;309;p40"/>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0" name="Shape 310"/>
        <p:cNvGrpSpPr/>
        <p:nvPr/>
      </p:nvGrpSpPr>
      <p:grpSpPr>
        <a:xfrm>
          <a:off x="0" y="0"/>
          <a:ext cx="0" cy="0"/>
          <a:chOff x="0" y="0"/>
          <a:chExt cx="0" cy="0"/>
        </a:xfrm>
      </p:grpSpPr>
      <p:sp>
        <p:nvSpPr>
          <p:cNvPr id="311" name="Google Shape;311;p41"/>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12" name="Shape 312"/>
        <p:cNvGrpSpPr/>
        <p:nvPr/>
      </p:nvGrpSpPr>
      <p:grpSpPr>
        <a:xfrm>
          <a:off x="0" y="0"/>
          <a:ext cx="0" cy="0"/>
          <a:chOff x="0" y="0"/>
          <a:chExt cx="0" cy="0"/>
        </a:xfrm>
      </p:grpSpPr>
      <p:sp>
        <p:nvSpPr>
          <p:cNvPr id="313" name="Google Shape;313;p42"/>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14" name="Google Shape;314;p42"/>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5" name="Google Shape;315;p42"/>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16" name="Shape 316"/>
        <p:cNvGrpSpPr/>
        <p:nvPr/>
      </p:nvGrpSpPr>
      <p:grpSpPr>
        <a:xfrm>
          <a:off x="0" y="0"/>
          <a:ext cx="0" cy="0"/>
          <a:chOff x="0" y="0"/>
          <a:chExt cx="0" cy="0"/>
        </a:xfrm>
      </p:grpSpPr>
      <p:sp>
        <p:nvSpPr>
          <p:cNvPr id="317" name="Google Shape;317;p43"/>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18" name="Shape 318"/>
        <p:cNvGrpSpPr/>
        <p:nvPr/>
      </p:nvGrpSpPr>
      <p:grpSpPr>
        <a:xfrm>
          <a:off x="0" y="0"/>
          <a:ext cx="0" cy="0"/>
          <a:chOff x="0" y="0"/>
          <a:chExt cx="0" cy="0"/>
        </a:xfrm>
      </p:grpSpPr>
      <p:sp>
        <p:nvSpPr>
          <p:cNvPr id="319" name="Google Shape;319;p44"/>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20" name="Google Shape;320;p44"/>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21" name="Shape 321"/>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22" name="Shape 322"/>
        <p:cNvGrpSpPr/>
        <p:nvPr/>
      </p:nvGrpSpPr>
      <p:grpSpPr>
        <a:xfrm>
          <a:off x="0" y="0"/>
          <a:ext cx="0" cy="0"/>
          <a:chOff x="0" y="0"/>
          <a:chExt cx="0" cy="0"/>
        </a:xfrm>
      </p:grpSpPr>
      <p:sp>
        <p:nvSpPr>
          <p:cNvPr id="323" name="Google Shape;323;p46"/>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6"/>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46"/>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46"/>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46"/>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8" name="Google Shape;328;p46"/>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9" name="Google Shape;329;p46"/>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30" name="Shape 330"/>
        <p:cNvGrpSpPr/>
        <p:nvPr/>
      </p:nvGrpSpPr>
      <p:grpSpPr>
        <a:xfrm>
          <a:off x="0" y="0"/>
          <a:ext cx="0" cy="0"/>
          <a:chOff x="0" y="0"/>
          <a:chExt cx="0" cy="0"/>
        </a:xfrm>
      </p:grpSpPr>
      <p:sp>
        <p:nvSpPr>
          <p:cNvPr id="331" name="Google Shape;331;p4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7"/>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3" name="Google Shape;333;p4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34" name="Shape 334"/>
        <p:cNvGrpSpPr/>
        <p:nvPr/>
      </p:nvGrpSpPr>
      <p:grpSpPr>
        <a:xfrm>
          <a:off x="0" y="0"/>
          <a:ext cx="0" cy="0"/>
          <a:chOff x="0" y="0"/>
          <a:chExt cx="0" cy="0"/>
        </a:xfrm>
      </p:grpSpPr>
      <p:sp>
        <p:nvSpPr>
          <p:cNvPr id="335" name="Google Shape;335;p48"/>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36" name="Google Shape;336;p48"/>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7" name="Google Shape;337;p48"/>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8"/>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9" name="Google Shape;339;p48"/>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40" name="Shape 340"/>
        <p:cNvGrpSpPr/>
        <p:nvPr/>
      </p:nvGrpSpPr>
      <p:grpSpPr>
        <a:xfrm>
          <a:off x="0" y="0"/>
          <a:ext cx="0" cy="0"/>
          <a:chOff x="0" y="0"/>
          <a:chExt cx="0" cy="0"/>
        </a:xfrm>
      </p:grpSpPr>
      <p:sp>
        <p:nvSpPr>
          <p:cNvPr id="341" name="Google Shape;341;p49"/>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2" name="Google Shape;342;p49"/>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3" name="Google Shape;343;p49"/>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44" name="Google Shape;344;p49"/>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5" name="Google Shape;345;p49"/>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6" name="Google Shape;346;p49"/>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7" name="Google Shape;347;p49"/>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48" name="Shape 348"/>
        <p:cNvGrpSpPr/>
        <p:nvPr/>
      </p:nvGrpSpPr>
      <p:grpSpPr>
        <a:xfrm>
          <a:off x="0" y="0"/>
          <a:ext cx="0" cy="0"/>
          <a:chOff x="0" y="0"/>
          <a:chExt cx="0" cy="0"/>
        </a:xfrm>
      </p:grpSpPr>
      <p:sp>
        <p:nvSpPr>
          <p:cNvPr id="349" name="Google Shape;349;p50"/>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0" name="Google Shape;350;p50"/>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0"/>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0"/>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3" name="Google Shape;353;p50"/>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4" name="Google Shape;354;p50"/>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0"/>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50"/>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50"/>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58" name="Shape 358"/>
        <p:cNvGrpSpPr/>
        <p:nvPr/>
      </p:nvGrpSpPr>
      <p:grpSpPr>
        <a:xfrm>
          <a:off x="0" y="0"/>
          <a:ext cx="0" cy="0"/>
          <a:chOff x="0" y="0"/>
          <a:chExt cx="0" cy="0"/>
        </a:xfrm>
      </p:grpSpPr>
      <p:sp>
        <p:nvSpPr>
          <p:cNvPr id="359" name="Google Shape;359;p5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0" name="Google Shape;360;p5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61" name="Shape 361"/>
        <p:cNvGrpSpPr/>
        <p:nvPr/>
      </p:nvGrpSpPr>
      <p:grpSpPr>
        <a:xfrm>
          <a:off x="0" y="0"/>
          <a:ext cx="0" cy="0"/>
          <a:chOff x="0" y="0"/>
          <a:chExt cx="0" cy="0"/>
        </a:xfrm>
      </p:grpSpPr>
      <p:sp>
        <p:nvSpPr>
          <p:cNvPr id="362" name="Google Shape;362;p52"/>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3" name="Google Shape;363;p52"/>
          <p:cNvSpPr/>
          <p:nvPr>
            <p:ph idx="2" type="pic"/>
          </p:nvPr>
        </p:nvSpPr>
        <p:spPr>
          <a:xfrm>
            <a:off x="4804825" y="1133300"/>
            <a:ext cx="4027500" cy="2392800"/>
          </a:xfrm>
          <a:prstGeom prst="rect">
            <a:avLst/>
          </a:prstGeom>
          <a:noFill/>
          <a:ln>
            <a:noFill/>
          </a:ln>
        </p:spPr>
      </p:sp>
      <p:sp>
        <p:nvSpPr>
          <p:cNvPr id="364" name="Google Shape;364;p52"/>
          <p:cNvSpPr/>
          <p:nvPr>
            <p:ph idx="3" type="pic"/>
          </p:nvPr>
        </p:nvSpPr>
        <p:spPr>
          <a:xfrm>
            <a:off x="311725" y="1133300"/>
            <a:ext cx="4027500" cy="2392800"/>
          </a:xfrm>
          <a:prstGeom prst="rect">
            <a:avLst/>
          </a:prstGeom>
          <a:noFill/>
          <a:ln>
            <a:noFill/>
          </a:ln>
        </p:spPr>
      </p:sp>
      <p:sp>
        <p:nvSpPr>
          <p:cNvPr id="365" name="Google Shape;365;p52"/>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6" name="Google Shape;366;p52"/>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7" name="Google Shape;367;p52"/>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8" name="Google Shape;368;p52"/>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69" name="Shape 369"/>
        <p:cNvGrpSpPr/>
        <p:nvPr/>
      </p:nvGrpSpPr>
      <p:grpSpPr>
        <a:xfrm>
          <a:off x="0" y="0"/>
          <a:ext cx="0" cy="0"/>
          <a:chOff x="0" y="0"/>
          <a:chExt cx="0" cy="0"/>
        </a:xfrm>
      </p:grpSpPr>
      <p:sp>
        <p:nvSpPr>
          <p:cNvPr id="370" name="Google Shape;370;p53"/>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1" name="Google Shape;371;p53"/>
          <p:cNvSpPr/>
          <p:nvPr>
            <p:ph idx="2" type="pic"/>
          </p:nvPr>
        </p:nvSpPr>
        <p:spPr>
          <a:xfrm>
            <a:off x="6205225" y="1128325"/>
            <a:ext cx="2627100" cy="2273100"/>
          </a:xfrm>
          <a:prstGeom prst="rect">
            <a:avLst/>
          </a:prstGeom>
          <a:noFill/>
          <a:ln>
            <a:noFill/>
          </a:ln>
        </p:spPr>
      </p:sp>
      <p:sp>
        <p:nvSpPr>
          <p:cNvPr id="372" name="Google Shape;372;p53"/>
          <p:cNvSpPr/>
          <p:nvPr>
            <p:ph idx="3" type="pic"/>
          </p:nvPr>
        </p:nvSpPr>
        <p:spPr>
          <a:xfrm>
            <a:off x="311725" y="1128325"/>
            <a:ext cx="2627100" cy="2273100"/>
          </a:xfrm>
          <a:prstGeom prst="rect">
            <a:avLst/>
          </a:prstGeom>
          <a:noFill/>
          <a:ln>
            <a:noFill/>
          </a:ln>
        </p:spPr>
      </p:sp>
      <p:sp>
        <p:nvSpPr>
          <p:cNvPr id="373" name="Google Shape;373;p53"/>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53"/>
          <p:cNvSpPr/>
          <p:nvPr>
            <p:ph idx="5" type="pic"/>
          </p:nvPr>
        </p:nvSpPr>
        <p:spPr>
          <a:xfrm>
            <a:off x="3255250" y="1128325"/>
            <a:ext cx="2627100" cy="2273100"/>
          </a:xfrm>
          <a:prstGeom prst="rect">
            <a:avLst/>
          </a:prstGeom>
          <a:noFill/>
          <a:ln>
            <a:noFill/>
          </a:ln>
        </p:spPr>
      </p:sp>
      <p:sp>
        <p:nvSpPr>
          <p:cNvPr id="375" name="Google Shape;375;p53"/>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6" name="Google Shape;376;p53"/>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7" name="Google Shape;377;p53"/>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8" name="Google Shape;378;p53"/>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9" name="Google Shape;379;p53"/>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80" name="Shape 380"/>
        <p:cNvGrpSpPr/>
        <p:nvPr/>
      </p:nvGrpSpPr>
      <p:grpSpPr>
        <a:xfrm>
          <a:off x="0" y="0"/>
          <a:ext cx="0" cy="0"/>
          <a:chOff x="0" y="0"/>
          <a:chExt cx="0" cy="0"/>
        </a:xfrm>
      </p:grpSpPr>
      <p:sp>
        <p:nvSpPr>
          <p:cNvPr id="381" name="Google Shape;381;p5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82" name="Shape 382"/>
        <p:cNvGrpSpPr/>
        <p:nvPr/>
      </p:nvGrpSpPr>
      <p:grpSpPr>
        <a:xfrm>
          <a:off x="0" y="0"/>
          <a:ext cx="0" cy="0"/>
          <a:chOff x="0" y="0"/>
          <a:chExt cx="0" cy="0"/>
        </a:xfrm>
      </p:grpSpPr>
      <p:sp>
        <p:nvSpPr>
          <p:cNvPr id="383" name="Google Shape;383;p55"/>
          <p:cNvSpPr/>
          <p:nvPr>
            <p:ph idx="2" type="pic"/>
          </p:nvPr>
        </p:nvSpPr>
        <p:spPr>
          <a:xfrm>
            <a:off x="3389600" y="118913"/>
            <a:ext cx="1643700" cy="1535100"/>
          </a:xfrm>
          <a:prstGeom prst="rect">
            <a:avLst/>
          </a:prstGeom>
          <a:noFill/>
          <a:ln>
            <a:noFill/>
          </a:ln>
        </p:spPr>
      </p:sp>
      <p:sp>
        <p:nvSpPr>
          <p:cNvPr id="384" name="Google Shape;384;p55"/>
          <p:cNvSpPr/>
          <p:nvPr>
            <p:ph idx="3" type="pic"/>
          </p:nvPr>
        </p:nvSpPr>
        <p:spPr>
          <a:xfrm>
            <a:off x="5195935" y="118913"/>
            <a:ext cx="1643700" cy="1535100"/>
          </a:xfrm>
          <a:prstGeom prst="rect">
            <a:avLst/>
          </a:prstGeom>
          <a:noFill/>
          <a:ln>
            <a:noFill/>
          </a:ln>
        </p:spPr>
      </p:sp>
      <p:sp>
        <p:nvSpPr>
          <p:cNvPr id="385" name="Google Shape;385;p55"/>
          <p:cNvSpPr/>
          <p:nvPr>
            <p:ph idx="4" type="pic"/>
          </p:nvPr>
        </p:nvSpPr>
        <p:spPr>
          <a:xfrm>
            <a:off x="7002270" y="118913"/>
            <a:ext cx="1643700" cy="1535100"/>
          </a:xfrm>
          <a:prstGeom prst="rect">
            <a:avLst/>
          </a:prstGeom>
          <a:noFill/>
          <a:ln>
            <a:noFill/>
          </a:ln>
        </p:spPr>
      </p:sp>
      <p:sp>
        <p:nvSpPr>
          <p:cNvPr id="386" name="Google Shape;386;p55"/>
          <p:cNvSpPr/>
          <p:nvPr>
            <p:ph idx="5" type="pic"/>
          </p:nvPr>
        </p:nvSpPr>
        <p:spPr>
          <a:xfrm>
            <a:off x="3389588" y="1804212"/>
            <a:ext cx="1643700" cy="1535100"/>
          </a:xfrm>
          <a:prstGeom prst="rect">
            <a:avLst/>
          </a:prstGeom>
          <a:noFill/>
          <a:ln>
            <a:noFill/>
          </a:ln>
        </p:spPr>
      </p:sp>
      <p:sp>
        <p:nvSpPr>
          <p:cNvPr id="387" name="Google Shape;387;p55"/>
          <p:cNvSpPr/>
          <p:nvPr>
            <p:ph idx="6" type="pic"/>
          </p:nvPr>
        </p:nvSpPr>
        <p:spPr>
          <a:xfrm>
            <a:off x="5195922" y="1804212"/>
            <a:ext cx="1643700" cy="1535100"/>
          </a:xfrm>
          <a:prstGeom prst="rect">
            <a:avLst/>
          </a:prstGeom>
          <a:noFill/>
          <a:ln>
            <a:noFill/>
          </a:ln>
        </p:spPr>
      </p:sp>
      <p:sp>
        <p:nvSpPr>
          <p:cNvPr id="388" name="Google Shape;388;p55"/>
          <p:cNvSpPr/>
          <p:nvPr>
            <p:ph idx="7" type="pic"/>
          </p:nvPr>
        </p:nvSpPr>
        <p:spPr>
          <a:xfrm>
            <a:off x="7002257" y="1804212"/>
            <a:ext cx="1643700" cy="1535100"/>
          </a:xfrm>
          <a:prstGeom prst="rect">
            <a:avLst/>
          </a:prstGeom>
          <a:noFill/>
          <a:ln>
            <a:noFill/>
          </a:ln>
        </p:spPr>
      </p:sp>
      <p:sp>
        <p:nvSpPr>
          <p:cNvPr id="389" name="Google Shape;389;p55"/>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0" name="Google Shape;390;p55"/>
          <p:cNvSpPr/>
          <p:nvPr>
            <p:ph idx="8" type="pic"/>
          </p:nvPr>
        </p:nvSpPr>
        <p:spPr>
          <a:xfrm>
            <a:off x="3389588" y="3489487"/>
            <a:ext cx="1643700" cy="1535100"/>
          </a:xfrm>
          <a:prstGeom prst="rect">
            <a:avLst/>
          </a:prstGeom>
          <a:noFill/>
          <a:ln>
            <a:noFill/>
          </a:ln>
        </p:spPr>
      </p:sp>
      <p:sp>
        <p:nvSpPr>
          <p:cNvPr id="391" name="Google Shape;391;p55"/>
          <p:cNvSpPr/>
          <p:nvPr>
            <p:ph idx="9" type="pic"/>
          </p:nvPr>
        </p:nvSpPr>
        <p:spPr>
          <a:xfrm>
            <a:off x="5195922" y="3489487"/>
            <a:ext cx="1643700" cy="1535100"/>
          </a:xfrm>
          <a:prstGeom prst="rect">
            <a:avLst/>
          </a:prstGeom>
          <a:noFill/>
          <a:ln>
            <a:noFill/>
          </a:ln>
        </p:spPr>
      </p:sp>
      <p:sp>
        <p:nvSpPr>
          <p:cNvPr id="392" name="Google Shape;392;p5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43" Type="http://schemas.openxmlformats.org/officeDocument/2006/relationships/theme" Target="../theme/theme3.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52" name="Google Shape;52;p13"/>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6.jpg"/><Relationship Id="rId4" Type="http://schemas.openxmlformats.org/officeDocument/2006/relationships/image" Target="../media/image33.jpg"/><Relationship Id="rId5" Type="http://schemas.openxmlformats.org/officeDocument/2006/relationships/image" Target="../media/image4.png"/><Relationship Id="rId6" Type="http://schemas.openxmlformats.org/officeDocument/2006/relationships/image" Target="../media/image13.jp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hyperlink" Target="https://cdn.openai.com/papers/whisper.pdf" TargetMode="External"/><Relationship Id="rId4" Type="http://schemas.openxmlformats.org/officeDocument/2006/relationships/image" Target="../media/image20.png"/><Relationship Id="rId5" Type="http://schemas.openxmlformats.org/officeDocument/2006/relationships/image" Target="../media/image16.png"/><Relationship Id="rId6"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29.png"/><Relationship Id="rId5" Type="http://schemas.openxmlformats.org/officeDocument/2006/relationships/image" Target="../media/image12.png"/><Relationship Id="rId6" Type="http://schemas.openxmlformats.org/officeDocument/2006/relationships/image" Target="../media/image23.png"/><Relationship Id="rId7" Type="http://schemas.openxmlformats.org/officeDocument/2006/relationships/image" Target="../media/image17.png"/><Relationship Id="rId8" Type="http://schemas.openxmlformats.org/officeDocument/2006/relationships/image" Target="../media/image27.png"/><Relationship Id="rId10"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2.xml"/><Relationship Id="rId3" Type="http://schemas.openxmlformats.org/officeDocument/2006/relationships/image" Target="../media/image31.jpg"/><Relationship Id="rId4" Type="http://schemas.openxmlformats.org/officeDocument/2006/relationships/image" Target="../media/image32.jpg"/><Relationship Id="rId5" Type="http://schemas.openxmlformats.org/officeDocument/2006/relationships/image" Target="../media/image26.jpg"/><Relationship Id="rId6"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3.xml"/><Relationship Id="rId3"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6"/>
          <p:cNvSpPr txBox="1"/>
          <p:nvPr>
            <p:ph idx="1" type="subTitle"/>
          </p:nvPr>
        </p:nvSpPr>
        <p:spPr>
          <a:xfrm>
            <a:off x="805649" y="2334250"/>
            <a:ext cx="6730200" cy="45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sz="1400"/>
              <a:t>Your AI Interview Assistant</a:t>
            </a:r>
            <a:endParaRPr sz="1400"/>
          </a:p>
        </p:txBody>
      </p:sp>
      <p:sp>
        <p:nvSpPr>
          <p:cNvPr id="398" name="Google Shape;398;p56"/>
          <p:cNvSpPr txBox="1"/>
          <p:nvPr>
            <p:ph idx="2" type="subTitle"/>
          </p:nvPr>
        </p:nvSpPr>
        <p:spPr>
          <a:xfrm>
            <a:off x="805650" y="582750"/>
            <a:ext cx="39519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900"/>
              <a:t>Artificial Intelligence Student Collective (AISC)</a:t>
            </a:r>
            <a:endParaRPr sz="900"/>
          </a:p>
        </p:txBody>
      </p:sp>
      <p:sp>
        <p:nvSpPr>
          <p:cNvPr id="399" name="Google Shape;399;p56"/>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05/27/2025</a:t>
            </a:r>
            <a:endParaRPr/>
          </a:p>
        </p:txBody>
      </p:sp>
      <p:sp>
        <p:nvSpPr>
          <p:cNvPr id="400" name="Google Shape;400;p56"/>
          <p:cNvSpPr txBox="1"/>
          <p:nvPr>
            <p:ph type="title"/>
          </p:nvPr>
        </p:nvSpPr>
        <p:spPr>
          <a:xfrm>
            <a:off x="805650" y="1454350"/>
            <a:ext cx="4838100" cy="879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IntelliView</a:t>
            </a:r>
            <a:endParaRPr b="1">
              <a:latin typeface="Times New Roman"/>
              <a:ea typeface="Times New Roman"/>
              <a:cs typeface="Times New Roman"/>
              <a:sym typeface="Times New Roman"/>
            </a:endParaRPr>
          </a:p>
        </p:txBody>
      </p:sp>
      <p:pic>
        <p:nvPicPr>
          <p:cNvPr id="401" name="Google Shape;401;p56"/>
          <p:cNvPicPr preferRelativeResize="0"/>
          <p:nvPr/>
        </p:nvPicPr>
        <p:blipFill>
          <a:blip r:embed="rId3">
            <a:alphaModFix/>
          </a:blip>
          <a:stretch>
            <a:fillRect/>
          </a:stretch>
        </p:blipFill>
        <p:spPr>
          <a:xfrm>
            <a:off x="805650" y="3230025"/>
            <a:ext cx="1122376" cy="1130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cxnSp>
        <p:nvCxnSpPr>
          <p:cNvPr id="406" name="Google Shape;406;p57"/>
          <p:cNvCxnSpPr/>
          <p:nvPr/>
        </p:nvCxnSpPr>
        <p:spPr>
          <a:xfrm>
            <a:off x="1710875" y="3264475"/>
            <a:ext cx="0" cy="389100"/>
          </a:xfrm>
          <a:prstGeom prst="straightConnector1">
            <a:avLst/>
          </a:prstGeom>
          <a:noFill/>
          <a:ln cap="flat" cmpd="sng" w="9525">
            <a:solidFill>
              <a:schemeClr val="dk1"/>
            </a:solidFill>
            <a:prstDash val="solid"/>
            <a:round/>
            <a:headEnd len="med" w="med" type="none"/>
            <a:tailEnd len="med" w="med" type="oval"/>
          </a:ln>
        </p:spPr>
      </p:cxnSp>
      <p:cxnSp>
        <p:nvCxnSpPr>
          <p:cNvPr id="407" name="Google Shape;407;p57"/>
          <p:cNvCxnSpPr/>
          <p:nvPr/>
        </p:nvCxnSpPr>
        <p:spPr>
          <a:xfrm>
            <a:off x="4572000" y="3264475"/>
            <a:ext cx="0" cy="389100"/>
          </a:xfrm>
          <a:prstGeom prst="straightConnector1">
            <a:avLst/>
          </a:prstGeom>
          <a:noFill/>
          <a:ln cap="flat" cmpd="sng" w="9525">
            <a:solidFill>
              <a:schemeClr val="dk1"/>
            </a:solidFill>
            <a:prstDash val="solid"/>
            <a:round/>
            <a:headEnd len="med" w="med" type="none"/>
            <a:tailEnd len="med" w="med" type="oval"/>
          </a:ln>
        </p:spPr>
      </p:cxnSp>
      <p:pic>
        <p:nvPicPr>
          <p:cNvPr id="408" name="Google Shape;408;p57" title="Americana UCR1.jpg"/>
          <p:cNvPicPr preferRelativeResize="0"/>
          <p:nvPr>
            <p:ph idx="3" type="pic"/>
          </p:nvPr>
        </p:nvPicPr>
        <p:blipFill rotWithShape="1">
          <a:blip r:embed="rId3">
            <a:alphaModFix/>
          </a:blip>
          <a:srcRect b="12265" l="0" r="0" t="12257"/>
          <a:stretch/>
        </p:blipFill>
        <p:spPr>
          <a:xfrm>
            <a:off x="1043975" y="1988413"/>
            <a:ext cx="1333800" cy="1337100"/>
          </a:xfrm>
          <a:prstGeom prst="roundRect">
            <a:avLst>
              <a:gd fmla="val 16667" name="adj"/>
            </a:avLst>
          </a:prstGeom>
        </p:spPr>
      </p:pic>
      <p:pic>
        <p:nvPicPr>
          <p:cNvPr id="409" name="Google Shape;409;p57" title="Foto_Perfil_Linkedin.jpeg"/>
          <p:cNvPicPr preferRelativeResize="0"/>
          <p:nvPr>
            <p:ph idx="4" type="pic"/>
          </p:nvPr>
        </p:nvPicPr>
        <p:blipFill rotWithShape="1">
          <a:blip r:embed="rId4">
            <a:alphaModFix/>
          </a:blip>
          <a:srcRect b="12406" l="0" r="0" t="12406"/>
          <a:stretch/>
        </p:blipFill>
        <p:spPr>
          <a:xfrm>
            <a:off x="3905100" y="2022875"/>
            <a:ext cx="1333800" cy="1337100"/>
          </a:xfrm>
          <a:prstGeom prst="roundRect">
            <a:avLst>
              <a:gd fmla="val 16667" name="adj"/>
            </a:avLst>
          </a:prstGeom>
        </p:spPr>
      </p:pic>
      <p:sp>
        <p:nvSpPr>
          <p:cNvPr id="410" name="Google Shape;410;p57"/>
          <p:cNvSpPr txBox="1"/>
          <p:nvPr>
            <p:ph type="title"/>
          </p:nvPr>
        </p:nvSpPr>
        <p:spPr>
          <a:xfrm>
            <a:off x="277500" y="577275"/>
            <a:ext cx="7137000" cy="99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Meet our team!</a:t>
            </a:r>
            <a:endParaRPr b="1">
              <a:latin typeface="Times New Roman"/>
              <a:ea typeface="Times New Roman"/>
              <a:cs typeface="Times New Roman"/>
              <a:sym typeface="Times New Roman"/>
            </a:endParaRPr>
          </a:p>
        </p:txBody>
      </p:sp>
      <p:sp>
        <p:nvSpPr>
          <p:cNvPr id="411" name="Google Shape;411;p57"/>
          <p:cNvSpPr txBox="1"/>
          <p:nvPr>
            <p:ph idx="8" type="body"/>
          </p:nvPr>
        </p:nvSpPr>
        <p:spPr>
          <a:xfrm>
            <a:off x="1043974" y="4192375"/>
            <a:ext cx="1333800" cy="561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lt1"/>
              </a:buClr>
              <a:buSzPts val="1100"/>
              <a:buNone/>
            </a:pPr>
            <a:r>
              <a:rPr lang="en"/>
              <a:t>Junior Data Science &amp; Engineering</a:t>
            </a:r>
            <a:endParaRPr/>
          </a:p>
          <a:p>
            <a:pPr indent="0" lvl="0" marL="0" rtl="0" algn="ctr">
              <a:spcBef>
                <a:spcPts val="0"/>
              </a:spcBef>
              <a:spcAft>
                <a:spcPts val="0"/>
              </a:spcAft>
              <a:buClr>
                <a:schemeClr val="lt1"/>
              </a:buClr>
              <a:buSzPts val="1100"/>
              <a:buNone/>
            </a:pPr>
            <a:r>
              <a:t/>
            </a:r>
            <a:endParaRPr/>
          </a:p>
        </p:txBody>
      </p:sp>
      <p:sp>
        <p:nvSpPr>
          <p:cNvPr id="412" name="Google Shape;412;p57"/>
          <p:cNvSpPr txBox="1"/>
          <p:nvPr>
            <p:ph idx="9" type="body"/>
          </p:nvPr>
        </p:nvSpPr>
        <p:spPr>
          <a:xfrm>
            <a:off x="3905100" y="4192375"/>
            <a:ext cx="1453500" cy="561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lt1"/>
              </a:buClr>
              <a:buSzPts val="1100"/>
              <a:buNone/>
            </a:pPr>
            <a:r>
              <a:rPr lang="en"/>
              <a:t>Senior Telecommunications Engineer &amp; Computer Science</a:t>
            </a:r>
            <a:endParaRPr/>
          </a:p>
        </p:txBody>
      </p:sp>
      <p:sp>
        <p:nvSpPr>
          <p:cNvPr id="413" name="Google Shape;413;p57"/>
          <p:cNvSpPr txBox="1"/>
          <p:nvPr>
            <p:ph idx="17" type="subTitle"/>
          </p:nvPr>
        </p:nvSpPr>
        <p:spPr>
          <a:xfrm>
            <a:off x="1086875" y="3852175"/>
            <a:ext cx="1248000" cy="3402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Clr>
                <a:schemeClr val="lt1"/>
              </a:buClr>
              <a:buSzPts val="1100"/>
              <a:buNone/>
            </a:pPr>
            <a:r>
              <a:rPr lang="en"/>
              <a:t>Lauren Gallego</a:t>
            </a:r>
            <a:endParaRPr sz="800"/>
          </a:p>
          <a:p>
            <a:pPr indent="0" lvl="0" marL="0" rtl="0" algn="l">
              <a:lnSpc>
                <a:spcPct val="115000"/>
              </a:lnSpc>
              <a:spcBef>
                <a:spcPts val="0"/>
              </a:spcBef>
              <a:spcAft>
                <a:spcPts val="0"/>
              </a:spcAft>
              <a:buClr>
                <a:schemeClr val="lt1"/>
              </a:buClr>
              <a:buSzPts val="1100"/>
              <a:buNone/>
            </a:pPr>
            <a:r>
              <a:t/>
            </a:r>
            <a:endParaRPr sz="800"/>
          </a:p>
        </p:txBody>
      </p:sp>
      <p:sp>
        <p:nvSpPr>
          <p:cNvPr id="414" name="Google Shape;414;p57"/>
          <p:cNvSpPr txBox="1"/>
          <p:nvPr>
            <p:ph idx="18" type="subTitle"/>
          </p:nvPr>
        </p:nvSpPr>
        <p:spPr>
          <a:xfrm>
            <a:off x="3980855" y="3852163"/>
            <a:ext cx="1248000" cy="5388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Clr>
                <a:schemeClr val="lt1"/>
              </a:buClr>
              <a:buSzPts val="1100"/>
              <a:buNone/>
            </a:pPr>
            <a:r>
              <a:rPr lang="en"/>
              <a:t>Alfonso Mayoral</a:t>
            </a:r>
            <a:endParaRPr sz="800"/>
          </a:p>
          <a:p>
            <a:pPr indent="0" lvl="0" marL="0" rtl="0" algn="l">
              <a:lnSpc>
                <a:spcPct val="115000"/>
              </a:lnSpc>
              <a:spcBef>
                <a:spcPts val="0"/>
              </a:spcBef>
              <a:spcAft>
                <a:spcPts val="0"/>
              </a:spcAft>
              <a:buClr>
                <a:schemeClr val="lt1"/>
              </a:buClr>
              <a:buSzPts val="1100"/>
              <a:buNone/>
            </a:pPr>
            <a:r>
              <a:t/>
            </a:r>
            <a:endParaRPr sz="800"/>
          </a:p>
        </p:txBody>
      </p:sp>
      <p:sp>
        <p:nvSpPr>
          <p:cNvPr id="415" name="Google Shape;415;p57"/>
          <p:cNvSpPr txBox="1"/>
          <p:nvPr>
            <p:ph idx="18" type="subTitle"/>
          </p:nvPr>
        </p:nvSpPr>
        <p:spPr>
          <a:xfrm>
            <a:off x="6874818" y="3852163"/>
            <a:ext cx="1248000" cy="5388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Clr>
                <a:schemeClr val="lt1"/>
              </a:buClr>
              <a:buSzPts val="1100"/>
              <a:buNone/>
            </a:pPr>
            <a:r>
              <a:rPr lang="en"/>
              <a:t>Pedro Tajia</a:t>
            </a:r>
            <a:endParaRPr sz="800"/>
          </a:p>
          <a:p>
            <a:pPr indent="0" lvl="0" marL="0" rtl="0" algn="ctr">
              <a:lnSpc>
                <a:spcPct val="115000"/>
              </a:lnSpc>
              <a:spcBef>
                <a:spcPts val="0"/>
              </a:spcBef>
              <a:spcAft>
                <a:spcPts val="0"/>
              </a:spcAft>
              <a:buClr>
                <a:schemeClr val="lt1"/>
              </a:buClr>
              <a:buSzPts val="1100"/>
              <a:buNone/>
            </a:pPr>
            <a:r>
              <a:t/>
            </a:r>
            <a:endParaRPr sz="800"/>
          </a:p>
        </p:txBody>
      </p:sp>
      <p:cxnSp>
        <p:nvCxnSpPr>
          <p:cNvPr id="416" name="Google Shape;416;p57"/>
          <p:cNvCxnSpPr/>
          <p:nvPr/>
        </p:nvCxnSpPr>
        <p:spPr>
          <a:xfrm>
            <a:off x="7541750" y="3264475"/>
            <a:ext cx="0" cy="389100"/>
          </a:xfrm>
          <a:prstGeom prst="straightConnector1">
            <a:avLst/>
          </a:prstGeom>
          <a:noFill/>
          <a:ln cap="flat" cmpd="sng" w="9525">
            <a:solidFill>
              <a:schemeClr val="dk1"/>
            </a:solidFill>
            <a:prstDash val="solid"/>
            <a:round/>
            <a:headEnd len="med" w="med" type="none"/>
            <a:tailEnd len="med" w="med" type="oval"/>
          </a:ln>
        </p:spPr>
      </p:cxnSp>
      <p:sp>
        <p:nvSpPr>
          <p:cNvPr id="417" name="Google Shape;417;p57"/>
          <p:cNvSpPr txBox="1"/>
          <p:nvPr>
            <p:ph idx="9" type="body"/>
          </p:nvPr>
        </p:nvSpPr>
        <p:spPr>
          <a:xfrm>
            <a:off x="6885929" y="4192375"/>
            <a:ext cx="1333800" cy="561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lt1"/>
              </a:buClr>
              <a:buSzPts val="1100"/>
              <a:buNone/>
            </a:pPr>
            <a:r>
              <a:rPr lang="en"/>
              <a:t>Sophomore</a:t>
            </a:r>
            <a:endParaRPr/>
          </a:p>
          <a:p>
            <a:pPr indent="0" lvl="0" marL="0" rtl="0" algn="ctr">
              <a:spcBef>
                <a:spcPts val="0"/>
              </a:spcBef>
              <a:spcAft>
                <a:spcPts val="0"/>
              </a:spcAft>
              <a:buClr>
                <a:schemeClr val="lt1"/>
              </a:buClr>
              <a:buSzPts val="1100"/>
              <a:buNone/>
            </a:pPr>
            <a:r>
              <a:rPr lang="en"/>
              <a:t>Data Science</a:t>
            </a:r>
            <a:endParaRPr/>
          </a:p>
        </p:txBody>
      </p:sp>
      <p:pic>
        <p:nvPicPr>
          <p:cNvPr id="418" name="Google Shape;418;p57"/>
          <p:cNvPicPr preferRelativeResize="0"/>
          <p:nvPr/>
        </p:nvPicPr>
        <p:blipFill>
          <a:blip r:embed="rId5">
            <a:alphaModFix/>
          </a:blip>
          <a:stretch>
            <a:fillRect/>
          </a:stretch>
        </p:blipFill>
        <p:spPr>
          <a:xfrm>
            <a:off x="1614875" y="4557898"/>
            <a:ext cx="192000" cy="192000"/>
          </a:xfrm>
          <a:prstGeom prst="rect">
            <a:avLst/>
          </a:prstGeom>
          <a:noFill/>
          <a:ln>
            <a:noFill/>
          </a:ln>
        </p:spPr>
      </p:pic>
      <p:pic>
        <p:nvPicPr>
          <p:cNvPr id="419" name="Google Shape;419;p57"/>
          <p:cNvPicPr preferRelativeResize="0"/>
          <p:nvPr/>
        </p:nvPicPr>
        <p:blipFill>
          <a:blip r:embed="rId5">
            <a:alphaModFix/>
          </a:blip>
          <a:stretch>
            <a:fillRect/>
          </a:stretch>
        </p:blipFill>
        <p:spPr>
          <a:xfrm>
            <a:off x="4510475" y="4557898"/>
            <a:ext cx="192000" cy="192000"/>
          </a:xfrm>
          <a:prstGeom prst="rect">
            <a:avLst/>
          </a:prstGeom>
          <a:noFill/>
          <a:ln>
            <a:noFill/>
          </a:ln>
        </p:spPr>
      </p:pic>
      <p:pic>
        <p:nvPicPr>
          <p:cNvPr id="420" name="Google Shape;420;p57" title="IMG_8557.jpg"/>
          <p:cNvPicPr preferRelativeResize="0"/>
          <p:nvPr/>
        </p:nvPicPr>
        <p:blipFill rotWithShape="1">
          <a:blip r:embed="rId6">
            <a:alphaModFix/>
          </a:blip>
          <a:srcRect b="49493" l="21335" r="23449" t="9002"/>
          <a:stretch/>
        </p:blipFill>
        <p:spPr>
          <a:xfrm>
            <a:off x="6885925" y="2043725"/>
            <a:ext cx="1333800" cy="1336800"/>
          </a:xfrm>
          <a:prstGeom prst="roundRect">
            <a:avLst>
              <a:gd fmla="val 16667" name="adj"/>
            </a:avLst>
          </a:prstGeom>
          <a:noFill/>
          <a:ln>
            <a:noFill/>
          </a:ln>
        </p:spPr>
      </p:pic>
      <p:pic>
        <p:nvPicPr>
          <p:cNvPr id="421" name="Google Shape;421;p57"/>
          <p:cNvPicPr preferRelativeResize="0"/>
          <p:nvPr/>
        </p:nvPicPr>
        <p:blipFill>
          <a:blip r:embed="rId7">
            <a:alphaModFix/>
          </a:blip>
          <a:stretch>
            <a:fillRect/>
          </a:stretch>
        </p:blipFill>
        <p:spPr>
          <a:xfrm>
            <a:off x="7456825" y="4516475"/>
            <a:ext cx="192000" cy="192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27" name="Google Shape;427;p58"/>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a:t>1</a:t>
            </a:r>
            <a:endParaRPr b="1"/>
          </a:p>
        </p:txBody>
      </p:sp>
      <p:sp>
        <p:nvSpPr>
          <p:cNvPr id="428" name="Google Shape;428;p58"/>
          <p:cNvSpPr txBox="1"/>
          <p:nvPr>
            <p:ph type="title"/>
          </p:nvPr>
        </p:nvSpPr>
        <p:spPr>
          <a:xfrm>
            <a:off x="2598475" y="3493075"/>
            <a:ext cx="59853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MEET THE PRODUCT</a:t>
            </a:r>
            <a:endParaRPr b="1">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59"/>
          <p:cNvPicPr preferRelativeResize="0"/>
          <p:nvPr/>
        </p:nvPicPr>
        <p:blipFill rotWithShape="1">
          <a:blip r:embed="rId3">
            <a:alphaModFix amt="10000"/>
          </a:blip>
          <a:srcRect b="19824" l="1069" r="80230" t="14704"/>
          <a:stretch/>
        </p:blipFill>
        <p:spPr>
          <a:xfrm>
            <a:off x="280800" y="1743975"/>
            <a:ext cx="1623600" cy="3039900"/>
          </a:xfrm>
          <a:prstGeom prst="roundRect">
            <a:avLst>
              <a:gd fmla="val 9898" name="adj"/>
            </a:avLst>
          </a:prstGeom>
          <a:noFill/>
          <a:ln>
            <a:noFill/>
          </a:ln>
        </p:spPr>
      </p:pic>
      <p:pic>
        <p:nvPicPr>
          <p:cNvPr id="434" name="Google Shape;434;p59"/>
          <p:cNvPicPr preferRelativeResize="0"/>
          <p:nvPr/>
        </p:nvPicPr>
        <p:blipFill rotWithShape="1">
          <a:blip r:embed="rId3">
            <a:alphaModFix amt="10000"/>
          </a:blip>
          <a:srcRect b="19824" l="1069" r="80230" t="14704"/>
          <a:stretch/>
        </p:blipFill>
        <p:spPr>
          <a:xfrm>
            <a:off x="2018600" y="1743975"/>
            <a:ext cx="1623600" cy="3039900"/>
          </a:xfrm>
          <a:prstGeom prst="roundRect">
            <a:avLst>
              <a:gd fmla="val 9898" name="adj"/>
            </a:avLst>
          </a:prstGeom>
          <a:noFill/>
          <a:ln>
            <a:noFill/>
          </a:ln>
        </p:spPr>
      </p:pic>
      <p:pic>
        <p:nvPicPr>
          <p:cNvPr id="435" name="Google Shape;435;p59"/>
          <p:cNvPicPr preferRelativeResize="0"/>
          <p:nvPr/>
        </p:nvPicPr>
        <p:blipFill rotWithShape="1">
          <a:blip r:embed="rId3">
            <a:alphaModFix amt="10000"/>
          </a:blip>
          <a:srcRect b="19824" l="1069" r="80230" t="14704"/>
          <a:stretch/>
        </p:blipFill>
        <p:spPr>
          <a:xfrm>
            <a:off x="3756400" y="1743975"/>
            <a:ext cx="1623600" cy="3039900"/>
          </a:xfrm>
          <a:prstGeom prst="roundRect">
            <a:avLst>
              <a:gd fmla="val 9898" name="adj"/>
            </a:avLst>
          </a:prstGeom>
          <a:noFill/>
          <a:ln>
            <a:noFill/>
          </a:ln>
        </p:spPr>
      </p:pic>
      <p:pic>
        <p:nvPicPr>
          <p:cNvPr id="436" name="Google Shape;436;p59"/>
          <p:cNvPicPr preferRelativeResize="0"/>
          <p:nvPr/>
        </p:nvPicPr>
        <p:blipFill rotWithShape="1">
          <a:blip r:embed="rId3">
            <a:alphaModFix amt="10000"/>
          </a:blip>
          <a:srcRect b="19824" l="1069" r="80230" t="14704"/>
          <a:stretch/>
        </p:blipFill>
        <p:spPr>
          <a:xfrm>
            <a:off x="5494200" y="1743975"/>
            <a:ext cx="1623600" cy="3039900"/>
          </a:xfrm>
          <a:prstGeom prst="roundRect">
            <a:avLst>
              <a:gd fmla="val 9898" name="adj"/>
            </a:avLst>
          </a:prstGeom>
          <a:noFill/>
          <a:ln>
            <a:noFill/>
          </a:ln>
        </p:spPr>
      </p:pic>
      <p:pic>
        <p:nvPicPr>
          <p:cNvPr id="437" name="Google Shape;437;p59"/>
          <p:cNvPicPr preferRelativeResize="0"/>
          <p:nvPr/>
        </p:nvPicPr>
        <p:blipFill rotWithShape="1">
          <a:blip r:embed="rId3">
            <a:alphaModFix amt="10000"/>
          </a:blip>
          <a:srcRect b="19824" l="1069" r="80230" t="14704"/>
          <a:stretch/>
        </p:blipFill>
        <p:spPr>
          <a:xfrm>
            <a:off x="7232000" y="1743975"/>
            <a:ext cx="1623600" cy="3039900"/>
          </a:xfrm>
          <a:prstGeom prst="roundRect">
            <a:avLst>
              <a:gd fmla="val 9898" name="adj"/>
            </a:avLst>
          </a:prstGeom>
          <a:noFill/>
          <a:ln>
            <a:noFill/>
          </a:ln>
        </p:spPr>
      </p:pic>
      <p:sp>
        <p:nvSpPr>
          <p:cNvPr id="438" name="Google Shape;438;p59"/>
          <p:cNvSpPr/>
          <p:nvPr/>
        </p:nvSpPr>
        <p:spPr>
          <a:xfrm>
            <a:off x="446761"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39" name="Google Shape;439;p59"/>
          <p:cNvSpPr/>
          <p:nvPr/>
        </p:nvSpPr>
        <p:spPr>
          <a:xfrm>
            <a:off x="491620"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1</a:t>
            </a:r>
            <a:endParaRPr sz="1800">
              <a:solidFill>
                <a:schemeClr val="dk1"/>
              </a:solidFill>
              <a:latin typeface="Arimo"/>
              <a:ea typeface="Arimo"/>
              <a:cs typeface="Arimo"/>
              <a:sym typeface="Arimo"/>
            </a:endParaRPr>
          </a:p>
        </p:txBody>
      </p:sp>
      <p:grpSp>
        <p:nvGrpSpPr>
          <p:cNvPr id="440" name="Google Shape;440;p59"/>
          <p:cNvGrpSpPr/>
          <p:nvPr/>
        </p:nvGrpSpPr>
        <p:grpSpPr>
          <a:xfrm>
            <a:off x="2196150" y="1919375"/>
            <a:ext cx="514500" cy="514500"/>
            <a:chOff x="2196150" y="1919375"/>
            <a:chExt cx="514500" cy="514500"/>
          </a:xfrm>
        </p:grpSpPr>
        <p:sp>
          <p:nvSpPr>
            <p:cNvPr id="441" name="Google Shape;441;p59"/>
            <p:cNvSpPr/>
            <p:nvPr/>
          </p:nvSpPr>
          <p:spPr>
            <a:xfrm>
              <a:off x="21961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sp>
          <p:nvSpPr>
            <p:cNvPr id="442" name="Google Shape;442;p59"/>
            <p:cNvSpPr/>
            <p:nvPr/>
          </p:nvSpPr>
          <p:spPr>
            <a:xfrm>
              <a:off x="22410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2</a:t>
              </a:r>
              <a:endParaRPr sz="1800">
                <a:solidFill>
                  <a:schemeClr val="dk1"/>
                </a:solidFill>
                <a:latin typeface="Arimo"/>
                <a:ea typeface="Arimo"/>
                <a:cs typeface="Arimo"/>
                <a:sym typeface="Arimo"/>
              </a:endParaRPr>
            </a:p>
          </p:txBody>
        </p:sp>
      </p:grpSp>
      <p:grpSp>
        <p:nvGrpSpPr>
          <p:cNvPr id="443" name="Google Shape;443;p59"/>
          <p:cNvGrpSpPr/>
          <p:nvPr/>
        </p:nvGrpSpPr>
        <p:grpSpPr>
          <a:xfrm>
            <a:off x="3936800" y="1919375"/>
            <a:ext cx="514500" cy="514500"/>
            <a:chOff x="3936800" y="1919375"/>
            <a:chExt cx="514500" cy="514500"/>
          </a:xfrm>
        </p:grpSpPr>
        <p:sp>
          <p:nvSpPr>
            <p:cNvPr id="444" name="Google Shape;444;p59"/>
            <p:cNvSpPr/>
            <p:nvPr/>
          </p:nvSpPr>
          <p:spPr>
            <a:xfrm>
              <a:off x="39368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45" name="Google Shape;445;p59"/>
            <p:cNvSpPr/>
            <p:nvPr/>
          </p:nvSpPr>
          <p:spPr>
            <a:xfrm>
              <a:off x="39816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3</a:t>
              </a:r>
              <a:endParaRPr sz="1800">
                <a:solidFill>
                  <a:schemeClr val="dk1"/>
                </a:solidFill>
                <a:latin typeface="Arimo"/>
                <a:ea typeface="Arimo"/>
                <a:cs typeface="Arimo"/>
                <a:sym typeface="Arimo"/>
              </a:endParaRPr>
            </a:p>
          </p:txBody>
        </p:sp>
      </p:grpSp>
      <p:grpSp>
        <p:nvGrpSpPr>
          <p:cNvPr id="446" name="Google Shape;446;p59"/>
          <p:cNvGrpSpPr/>
          <p:nvPr/>
        </p:nvGrpSpPr>
        <p:grpSpPr>
          <a:xfrm>
            <a:off x="5677450" y="1919375"/>
            <a:ext cx="514500" cy="514500"/>
            <a:chOff x="5677450" y="1919375"/>
            <a:chExt cx="514500" cy="514500"/>
          </a:xfrm>
        </p:grpSpPr>
        <p:sp>
          <p:nvSpPr>
            <p:cNvPr id="447" name="Google Shape;447;p59"/>
            <p:cNvSpPr/>
            <p:nvPr/>
          </p:nvSpPr>
          <p:spPr>
            <a:xfrm>
              <a:off x="56774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48" name="Google Shape;448;p59"/>
            <p:cNvSpPr/>
            <p:nvPr/>
          </p:nvSpPr>
          <p:spPr>
            <a:xfrm>
              <a:off x="57223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4</a:t>
              </a:r>
              <a:endParaRPr sz="1800">
                <a:solidFill>
                  <a:schemeClr val="dk1"/>
                </a:solidFill>
                <a:latin typeface="Arimo"/>
                <a:ea typeface="Arimo"/>
                <a:cs typeface="Arimo"/>
                <a:sym typeface="Arimo"/>
              </a:endParaRPr>
            </a:p>
          </p:txBody>
        </p:sp>
      </p:grpSp>
      <p:grpSp>
        <p:nvGrpSpPr>
          <p:cNvPr id="449" name="Google Shape;449;p59"/>
          <p:cNvGrpSpPr/>
          <p:nvPr/>
        </p:nvGrpSpPr>
        <p:grpSpPr>
          <a:xfrm>
            <a:off x="7418100" y="1919375"/>
            <a:ext cx="514500" cy="514500"/>
            <a:chOff x="7418100" y="1919375"/>
            <a:chExt cx="514500" cy="514500"/>
          </a:xfrm>
        </p:grpSpPr>
        <p:sp>
          <p:nvSpPr>
            <p:cNvPr id="450" name="Google Shape;450;p59"/>
            <p:cNvSpPr/>
            <p:nvPr/>
          </p:nvSpPr>
          <p:spPr>
            <a:xfrm>
              <a:off x="74181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451" name="Google Shape;451;p59"/>
            <p:cNvSpPr/>
            <p:nvPr/>
          </p:nvSpPr>
          <p:spPr>
            <a:xfrm>
              <a:off x="74629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5</a:t>
              </a:r>
              <a:endParaRPr sz="1800">
                <a:solidFill>
                  <a:schemeClr val="dk1"/>
                </a:solidFill>
                <a:latin typeface="Arimo"/>
                <a:ea typeface="Arimo"/>
                <a:cs typeface="Arimo"/>
                <a:sym typeface="Arimo"/>
              </a:endParaRPr>
            </a:p>
          </p:txBody>
        </p:sp>
      </p:grpSp>
      <p:sp>
        <p:nvSpPr>
          <p:cNvPr id="452" name="Google Shape;452;p59"/>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3200">
                <a:latin typeface="Times New Roman"/>
                <a:ea typeface="Times New Roman"/>
                <a:cs typeface="Times New Roman"/>
                <a:sym typeface="Times New Roman"/>
              </a:rPr>
              <a:t>Overview &amp; </a:t>
            </a:r>
            <a:r>
              <a:rPr b="1" lang="en" sz="3200">
                <a:latin typeface="Times New Roman"/>
                <a:ea typeface="Times New Roman"/>
                <a:cs typeface="Times New Roman"/>
                <a:sym typeface="Times New Roman"/>
              </a:rPr>
              <a:t>Key Features </a:t>
            </a:r>
            <a:endParaRPr b="1" sz="3200">
              <a:latin typeface="Times New Roman"/>
              <a:ea typeface="Times New Roman"/>
              <a:cs typeface="Times New Roman"/>
              <a:sym typeface="Times New Roman"/>
            </a:endParaRPr>
          </a:p>
        </p:txBody>
      </p:sp>
      <p:sp>
        <p:nvSpPr>
          <p:cNvPr id="453" name="Google Shape;453;p59"/>
          <p:cNvSpPr txBox="1"/>
          <p:nvPr>
            <p:ph idx="1" type="subTitle"/>
          </p:nvPr>
        </p:nvSpPr>
        <p:spPr>
          <a:xfrm>
            <a:off x="421311"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Face Detection</a:t>
            </a:r>
            <a:endParaRPr/>
          </a:p>
        </p:txBody>
      </p:sp>
      <p:sp>
        <p:nvSpPr>
          <p:cNvPr id="454" name="Google Shape;454;p59"/>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Emotion Detection</a:t>
            </a:r>
            <a:endParaRPr/>
          </a:p>
        </p:txBody>
      </p:sp>
      <p:sp>
        <p:nvSpPr>
          <p:cNvPr id="455" name="Google Shape;455;p59"/>
          <p:cNvSpPr txBox="1"/>
          <p:nvPr>
            <p:ph idx="3" type="subTitle"/>
          </p:nvPr>
        </p:nvSpPr>
        <p:spPr>
          <a:xfrm>
            <a:off x="3905475" y="2908400"/>
            <a:ext cx="14745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Speech-to-text Transformation</a:t>
            </a:r>
            <a:endParaRPr/>
          </a:p>
        </p:txBody>
      </p:sp>
      <p:sp>
        <p:nvSpPr>
          <p:cNvPr id="456" name="Google Shape;456;p59"/>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LLM Report Generation</a:t>
            </a:r>
            <a:endParaRPr/>
          </a:p>
        </p:txBody>
      </p:sp>
      <p:sp>
        <p:nvSpPr>
          <p:cNvPr id="457" name="Google Shape;457;p59"/>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Real Time Analysis</a:t>
            </a:r>
            <a:endParaRPr/>
          </a:p>
        </p:txBody>
      </p:sp>
      <p:sp>
        <p:nvSpPr>
          <p:cNvPr id="458" name="Google Shape;458;p59"/>
          <p:cNvSpPr txBox="1"/>
          <p:nvPr>
            <p:ph idx="6" type="body"/>
          </p:nvPr>
        </p:nvSpPr>
        <p:spPr>
          <a:xfrm>
            <a:off x="421311" y="3433000"/>
            <a:ext cx="1337400" cy="877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fine-tuned YOLO lightweight model is capable of </a:t>
            </a:r>
            <a:r>
              <a:rPr lang="en"/>
              <a:t>drawing a bounding box over the user’s face</a:t>
            </a:r>
            <a:endParaRPr/>
          </a:p>
        </p:txBody>
      </p:sp>
      <p:sp>
        <p:nvSpPr>
          <p:cNvPr id="459" name="Google Shape;459;p59"/>
          <p:cNvSpPr txBox="1"/>
          <p:nvPr>
            <p:ph idx="7" type="body"/>
          </p:nvPr>
        </p:nvSpPr>
        <p:spPr>
          <a:xfrm>
            <a:off x="2167325" y="3433000"/>
            <a:ext cx="13374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 second fine-tuned YOLO model is able to very accurately classify the user’s emotion from their facial expressions</a:t>
            </a:r>
            <a:endParaRPr/>
          </a:p>
        </p:txBody>
      </p:sp>
      <p:sp>
        <p:nvSpPr>
          <p:cNvPr id="460" name="Google Shape;460;p59"/>
          <p:cNvSpPr txBox="1"/>
          <p:nvPr>
            <p:ph idx="8" type="body"/>
          </p:nvPr>
        </p:nvSpPr>
        <p:spPr>
          <a:xfrm>
            <a:off x="3903300" y="3433000"/>
            <a:ext cx="13374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Integrated Whisper model takes real-time audio and </a:t>
            </a:r>
            <a:r>
              <a:rPr lang="en"/>
              <a:t>transcripts</a:t>
            </a:r>
            <a:r>
              <a:rPr lang="en"/>
              <a:t> it into text form. This information is later used.</a:t>
            </a:r>
            <a:endParaRPr/>
          </a:p>
        </p:txBody>
      </p:sp>
      <p:sp>
        <p:nvSpPr>
          <p:cNvPr id="461" name="Google Shape;461;p59"/>
          <p:cNvSpPr txBox="1"/>
          <p:nvPr>
            <p:ph idx="9" type="body"/>
          </p:nvPr>
        </p:nvSpPr>
        <p:spPr>
          <a:xfrm>
            <a:off x="5648625" y="3433000"/>
            <a:ext cx="13374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Using the logged emotions and transcripted text, an LLM model generates a formatted report of the interview.</a:t>
            </a:r>
            <a:endParaRPr/>
          </a:p>
        </p:txBody>
      </p:sp>
      <p:sp>
        <p:nvSpPr>
          <p:cNvPr id="462" name="Google Shape;462;p59"/>
          <p:cNvSpPr txBox="1"/>
          <p:nvPr>
            <p:ph idx="13" type="body"/>
          </p:nvPr>
        </p:nvSpPr>
        <p:spPr>
          <a:xfrm>
            <a:off x="7385291" y="3433000"/>
            <a:ext cx="1337400" cy="1293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lt1"/>
              </a:buClr>
              <a:buSzPts val="1100"/>
              <a:buFont typeface="Arial"/>
              <a:buNone/>
            </a:pPr>
            <a:r>
              <a:rPr lang="en"/>
              <a:t>Our application is able to do this in real time, with minimal latency that does not sacrifice any performance. This was one of the features that we </a:t>
            </a:r>
            <a:r>
              <a:rPr lang="en"/>
              <a:t>prioritized</a:t>
            </a:r>
            <a:r>
              <a:rPr lang="en"/>
              <a:t>.</a:t>
            </a:r>
            <a:endParaRPr/>
          </a:p>
        </p:txBody>
      </p:sp>
      <p:sp>
        <p:nvSpPr>
          <p:cNvPr id="463" name="Google Shape;463;p5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0"/>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marR="0" rtl="0" algn="l">
              <a:lnSpc>
                <a:spcPct val="100000"/>
              </a:lnSpc>
              <a:spcBef>
                <a:spcPts val="0"/>
              </a:spcBef>
              <a:spcAft>
                <a:spcPts val="0"/>
              </a:spcAft>
              <a:buNone/>
            </a:pPr>
            <a:r>
              <a:rPr b="1" lang="en" sz="3200">
                <a:latin typeface="Times New Roman"/>
                <a:ea typeface="Times New Roman"/>
                <a:cs typeface="Times New Roman"/>
                <a:sym typeface="Times New Roman"/>
              </a:rPr>
              <a:t>Target audiences</a:t>
            </a:r>
            <a:endParaRPr b="1" sz="3200">
              <a:latin typeface="Times New Roman"/>
              <a:ea typeface="Times New Roman"/>
              <a:cs typeface="Times New Roman"/>
              <a:sym typeface="Times New Roman"/>
            </a:endParaRPr>
          </a:p>
        </p:txBody>
      </p:sp>
      <p:pic>
        <p:nvPicPr>
          <p:cNvPr id="469" name="Google Shape;469;p60"/>
          <p:cNvPicPr preferRelativeResize="0"/>
          <p:nvPr>
            <p:ph idx="2" type="pic"/>
          </p:nvPr>
        </p:nvPicPr>
        <p:blipFill rotWithShape="1">
          <a:blip r:embed="rId3">
            <a:alphaModFix/>
          </a:blip>
          <a:srcRect b="0" l="31485" r="31489" t="0"/>
          <a:stretch/>
        </p:blipFill>
        <p:spPr>
          <a:xfrm>
            <a:off x="1056100" y="1854425"/>
            <a:ext cx="1679100" cy="3013800"/>
          </a:xfrm>
          <a:prstGeom prst="roundRect">
            <a:avLst>
              <a:gd fmla="val 16667" name="adj"/>
            </a:avLst>
          </a:prstGeom>
        </p:spPr>
      </p:pic>
      <p:pic>
        <p:nvPicPr>
          <p:cNvPr id="470" name="Google Shape;470;p60" title="unnamed_centered.PNG"/>
          <p:cNvPicPr preferRelativeResize="0"/>
          <p:nvPr>
            <p:ph idx="3" type="pic"/>
          </p:nvPr>
        </p:nvPicPr>
        <p:blipFill rotWithShape="1">
          <a:blip r:embed="rId4">
            <a:alphaModFix/>
          </a:blip>
          <a:srcRect b="0" l="20719" r="20719" t="0"/>
          <a:stretch/>
        </p:blipFill>
        <p:spPr>
          <a:xfrm>
            <a:off x="5375450" y="1854425"/>
            <a:ext cx="1679100" cy="3013800"/>
          </a:xfrm>
          <a:prstGeom prst="roundRect">
            <a:avLst>
              <a:gd fmla="val 16667" name="adj"/>
            </a:avLst>
          </a:prstGeom>
        </p:spPr>
      </p:pic>
      <p:sp>
        <p:nvSpPr>
          <p:cNvPr id="471" name="Google Shape;471;p60"/>
          <p:cNvSpPr txBox="1"/>
          <p:nvPr>
            <p:ph idx="1" type="subTitle"/>
          </p:nvPr>
        </p:nvSpPr>
        <p:spPr>
          <a:xfrm>
            <a:off x="2914500" y="3226750"/>
            <a:ext cx="1884300" cy="5532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b="1" lang="en" sz="1700"/>
              <a:t>Employers</a:t>
            </a:r>
            <a:endParaRPr b="1" sz="1700"/>
          </a:p>
        </p:txBody>
      </p:sp>
      <p:sp>
        <p:nvSpPr>
          <p:cNvPr id="472" name="Google Shape;472;p60"/>
          <p:cNvSpPr txBox="1"/>
          <p:nvPr>
            <p:ph idx="4" type="body"/>
          </p:nvPr>
        </p:nvSpPr>
        <p:spPr>
          <a:xfrm>
            <a:off x="2914500" y="3850823"/>
            <a:ext cx="17439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900"/>
              <a:t>Employers can use IntelliView to keep track of different candidates for different job positions using an independent automatic system.</a:t>
            </a:r>
            <a:endParaRPr sz="900"/>
          </a:p>
        </p:txBody>
      </p:sp>
      <p:sp>
        <p:nvSpPr>
          <p:cNvPr id="473" name="Google Shape;473;p60"/>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b="1" lang="en" sz="1700"/>
              <a:t>Candidates</a:t>
            </a:r>
            <a:endParaRPr b="1" sz="1700"/>
          </a:p>
        </p:txBody>
      </p:sp>
      <p:sp>
        <p:nvSpPr>
          <p:cNvPr id="474" name="Google Shape;474;p60"/>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900"/>
              <a:t>Candidates can use this tool as a practice tool to improve their interviewing skills, one of the main concerns of young potential candidates in today’s market.</a:t>
            </a:r>
            <a:endParaRPr sz="900"/>
          </a:p>
        </p:txBody>
      </p:sp>
      <p:sp>
        <p:nvSpPr>
          <p:cNvPr id="475" name="Google Shape;475;p6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81" name="Google Shape;481;p61"/>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a:t>2</a:t>
            </a:r>
            <a:endParaRPr b="1"/>
          </a:p>
        </p:txBody>
      </p:sp>
      <p:sp>
        <p:nvSpPr>
          <p:cNvPr id="482" name="Google Shape;482;p61"/>
          <p:cNvSpPr txBox="1"/>
          <p:nvPr>
            <p:ph type="title"/>
          </p:nvPr>
        </p:nvSpPr>
        <p:spPr>
          <a:xfrm>
            <a:off x="2598475" y="3493075"/>
            <a:ext cx="59853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GOING INTO SPECIFICS</a:t>
            </a:r>
            <a:endParaRPr b="1">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2"/>
          <p:cNvSpPr txBox="1"/>
          <p:nvPr>
            <p:ph idx="7" type="subTitle"/>
          </p:nvPr>
        </p:nvSpPr>
        <p:spPr>
          <a:xfrm>
            <a:off x="277500" y="136475"/>
            <a:ext cx="3487200" cy="541500"/>
          </a:xfrm>
          <a:prstGeom prst="rect">
            <a:avLst/>
          </a:prstGeom>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 sz="3200">
                <a:latin typeface="Times New Roman"/>
                <a:ea typeface="Times New Roman"/>
                <a:cs typeface="Times New Roman"/>
                <a:sym typeface="Times New Roman"/>
              </a:rPr>
              <a:t>First Iteration</a:t>
            </a:r>
            <a:endParaRPr b="1" sz="3200">
              <a:latin typeface="Times New Roman"/>
              <a:ea typeface="Times New Roman"/>
              <a:cs typeface="Times New Roman"/>
              <a:sym typeface="Times New Roman"/>
            </a:endParaRPr>
          </a:p>
        </p:txBody>
      </p:sp>
      <p:pic>
        <p:nvPicPr>
          <p:cNvPr id="488" name="Google Shape;488;p62"/>
          <p:cNvPicPr preferRelativeResize="0"/>
          <p:nvPr/>
        </p:nvPicPr>
        <p:blipFill rotWithShape="1">
          <a:blip r:embed="rId3">
            <a:alphaModFix/>
          </a:blip>
          <a:srcRect b="-1636" l="-1498" r="57803" t="0"/>
          <a:stretch/>
        </p:blipFill>
        <p:spPr>
          <a:xfrm>
            <a:off x="3428300" y="136475"/>
            <a:ext cx="2529900" cy="4904702"/>
          </a:xfrm>
          <a:prstGeom prst="rect">
            <a:avLst/>
          </a:prstGeom>
          <a:noFill/>
          <a:ln>
            <a:noFill/>
          </a:ln>
        </p:spPr>
      </p:pic>
      <p:sp>
        <p:nvSpPr>
          <p:cNvPr id="489" name="Google Shape;489;p62"/>
          <p:cNvSpPr txBox="1"/>
          <p:nvPr/>
        </p:nvSpPr>
        <p:spPr>
          <a:xfrm>
            <a:off x="277500" y="1241625"/>
            <a:ext cx="2814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lt1"/>
              </a:buClr>
              <a:buSzPts val="1100"/>
              <a:buFont typeface="Arial"/>
              <a:buNone/>
            </a:pPr>
            <a:r>
              <a:rPr lang="en">
                <a:solidFill>
                  <a:schemeClr val="dk1"/>
                </a:solidFill>
                <a:latin typeface="Arimo"/>
                <a:ea typeface="Arimo"/>
                <a:cs typeface="Arimo"/>
                <a:sym typeface="Arimo"/>
              </a:rPr>
              <a:t>Use a single yolo model, trained on two different datasets from </a:t>
            </a:r>
            <a:r>
              <a:rPr b="1" lang="en">
                <a:solidFill>
                  <a:schemeClr val="dk1"/>
                </a:solidFill>
                <a:latin typeface="Arimo"/>
                <a:ea typeface="Arimo"/>
                <a:cs typeface="Arimo"/>
                <a:sym typeface="Arimo"/>
              </a:rPr>
              <a:t>kaggle</a:t>
            </a:r>
            <a:r>
              <a:rPr lang="en">
                <a:solidFill>
                  <a:schemeClr val="dk1"/>
                </a:solidFill>
                <a:latin typeface="Arimo"/>
                <a:ea typeface="Arimo"/>
                <a:cs typeface="Arimo"/>
                <a:sym typeface="Arimo"/>
              </a:rPr>
              <a:t>. </a:t>
            </a:r>
            <a:endParaRPr>
              <a:solidFill>
                <a:schemeClr val="dk1"/>
              </a:solidFill>
              <a:latin typeface="Arimo"/>
              <a:ea typeface="Arimo"/>
              <a:cs typeface="Arimo"/>
              <a:sym typeface="Arimo"/>
            </a:endParaRPr>
          </a:p>
          <a:p>
            <a:pPr indent="0" lvl="0" marL="0" rtl="0" algn="l">
              <a:spcBef>
                <a:spcPts val="0"/>
              </a:spcBef>
              <a:spcAft>
                <a:spcPts val="0"/>
              </a:spcAft>
              <a:buNone/>
            </a:pPr>
            <a:r>
              <a:t/>
            </a:r>
            <a:endParaRPr>
              <a:solidFill>
                <a:schemeClr val="dk1"/>
              </a:solidFill>
              <a:latin typeface="Arimo"/>
              <a:ea typeface="Arimo"/>
              <a:cs typeface="Arimo"/>
              <a:sym typeface="Arimo"/>
            </a:endParaRPr>
          </a:p>
        </p:txBody>
      </p:sp>
      <p:sp>
        <p:nvSpPr>
          <p:cNvPr id="490" name="Google Shape;490;p62"/>
          <p:cNvSpPr txBox="1"/>
          <p:nvPr/>
        </p:nvSpPr>
        <p:spPr>
          <a:xfrm>
            <a:off x="277500" y="2039575"/>
            <a:ext cx="2937300" cy="1576800"/>
          </a:xfrm>
          <a:prstGeom prst="rect">
            <a:avLst/>
          </a:prstGeom>
          <a:noFill/>
          <a:ln>
            <a:noFill/>
          </a:ln>
        </p:spPr>
        <p:txBody>
          <a:bodyPr anchorCtr="0" anchor="t" bIns="91425" lIns="91425" spcFirstLastPara="1" rIns="91425" wrap="square" tIns="91425">
            <a:spAutoFit/>
          </a:bodyPr>
          <a:lstStyle/>
          <a:p>
            <a:pPr indent="-317500" lvl="0" marL="457200" rtl="0" algn="l">
              <a:lnSpc>
                <a:spcPct val="122222"/>
              </a:lnSpc>
              <a:spcBef>
                <a:spcPts val="0"/>
              </a:spcBef>
              <a:spcAft>
                <a:spcPts val="0"/>
              </a:spcAft>
              <a:buClr>
                <a:srgbClr val="202124"/>
              </a:buClr>
              <a:buSzPts val="1400"/>
              <a:buFont typeface="Arimo"/>
              <a:buChar char="●"/>
            </a:pPr>
            <a:r>
              <a:rPr lang="en">
                <a:solidFill>
                  <a:srgbClr val="202124"/>
                </a:solidFill>
                <a:latin typeface="Arimo"/>
                <a:ea typeface="Arimo"/>
                <a:cs typeface="Arimo"/>
                <a:sym typeface="Arimo"/>
              </a:rPr>
              <a:t>Facial Expression Image Data AFFECTNET YOLO Format</a:t>
            </a:r>
            <a:endParaRPr>
              <a:solidFill>
                <a:srgbClr val="202124"/>
              </a:solidFill>
              <a:latin typeface="Arimo"/>
              <a:ea typeface="Arimo"/>
              <a:cs typeface="Arimo"/>
              <a:sym typeface="Arimo"/>
            </a:endParaRPr>
          </a:p>
          <a:p>
            <a:pPr indent="-317500" lvl="0" marL="457200" rtl="0" algn="l">
              <a:lnSpc>
                <a:spcPct val="122222"/>
              </a:lnSpc>
              <a:spcBef>
                <a:spcPts val="0"/>
              </a:spcBef>
              <a:spcAft>
                <a:spcPts val="0"/>
              </a:spcAft>
              <a:buClr>
                <a:srgbClr val="202124"/>
              </a:buClr>
              <a:buSzPts val="1400"/>
              <a:buFont typeface="Arimo"/>
              <a:buChar char="●"/>
            </a:pPr>
            <a:r>
              <a:rPr lang="en">
                <a:solidFill>
                  <a:srgbClr val="202124"/>
                </a:solidFill>
                <a:latin typeface="Arimo"/>
                <a:ea typeface="Arimo"/>
                <a:cs typeface="Arimo"/>
                <a:sym typeface="Arimo"/>
              </a:rPr>
              <a:t>Face-Detection-Dataset</a:t>
            </a:r>
            <a:endParaRPr sz="1300">
              <a:solidFill>
                <a:schemeClr val="lt1"/>
              </a:solidFill>
              <a:latin typeface="Arimo"/>
              <a:ea typeface="Arimo"/>
              <a:cs typeface="Arimo"/>
              <a:sym typeface="Arimo"/>
            </a:endParaRPr>
          </a:p>
          <a:p>
            <a:pPr indent="0" lvl="0" marL="0" rtl="0" algn="l">
              <a:spcBef>
                <a:spcPts val="1200"/>
              </a:spcBef>
              <a:spcAft>
                <a:spcPts val="0"/>
              </a:spcAft>
              <a:buNone/>
            </a:pPr>
            <a:r>
              <a:t/>
            </a:r>
            <a:endParaRPr sz="1200">
              <a:solidFill>
                <a:schemeClr val="dk1"/>
              </a:solidFill>
              <a:latin typeface="Azeret Mono"/>
              <a:ea typeface="Azeret Mono"/>
              <a:cs typeface="Azeret Mono"/>
              <a:sym typeface="Azeret Mono"/>
            </a:endParaRPr>
          </a:p>
        </p:txBody>
      </p:sp>
      <p:pic>
        <p:nvPicPr>
          <p:cNvPr id="491" name="Google Shape;491;p62"/>
          <p:cNvPicPr preferRelativeResize="0"/>
          <p:nvPr/>
        </p:nvPicPr>
        <p:blipFill>
          <a:blip r:embed="rId4">
            <a:alphaModFix/>
          </a:blip>
          <a:stretch>
            <a:fillRect/>
          </a:stretch>
        </p:blipFill>
        <p:spPr>
          <a:xfrm>
            <a:off x="6294100" y="136475"/>
            <a:ext cx="2529899" cy="4231038"/>
          </a:xfrm>
          <a:prstGeom prst="rect">
            <a:avLst/>
          </a:prstGeom>
          <a:noFill/>
          <a:ln>
            <a:noFill/>
          </a:ln>
        </p:spPr>
      </p:pic>
      <p:sp>
        <p:nvSpPr>
          <p:cNvPr id="492" name="Google Shape;492;p62"/>
          <p:cNvSpPr txBox="1"/>
          <p:nvPr/>
        </p:nvSpPr>
        <p:spPr>
          <a:xfrm>
            <a:off x="277500" y="3411100"/>
            <a:ext cx="1521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Arimo"/>
                <a:ea typeface="Arimo"/>
                <a:cs typeface="Arimo"/>
                <a:sym typeface="Arimo"/>
              </a:rPr>
              <a:t>Problem</a:t>
            </a:r>
            <a:r>
              <a:rPr b="1" lang="en" sz="1300">
                <a:solidFill>
                  <a:schemeClr val="dk1"/>
                </a:solidFill>
                <a:latin typeface="Arimo"/>
                <a:ea typeface="Arimo"/>
                <a:cs typeface="Arimo"/>
                <a:sym typeface="Arimo"/>
              </a:rPr>
              <a:t>:</a:t>
            </a:r>
            <a:endParaRPr b="1" sz="1300">
              <a:solidFill>
                <a:schemeClr val="dk1"/>
              </a:solidFill>
              <a:latin typeface="Arimo"/>
              <a:ea typeface="Arimo"/>
              <a:cs typeface="Arimo"/>
              <a:sym typeface="Arimo"/>
            </a:endParaRPr>
          </a:p>
        </p:txBody>
      </p:sp>
      <p:sp>
        <p:nvSpPr>
          <p:cNvPr id="493" name="Google Shape;493;p62"/>
          <p:cNvSpPr txBox="1"/>
          <p:nvPr/>
        </p:nvSpPr>
        <p:spPr>
          <a:xfrm>
            <a:off x="338700" y="3796000"/>
            <a:ext cx="3089700" cy="831300"/>
          </a:xfrm>
          <a:prstGeom prst="rect">
            <a:avLst/>
          </a:prstGeom>
          <a:noFill/>
          <a:ln>
            <a:noFill/>
          </a:ln>
        </p:spPr>
        <p:txBody>
          <a:bodyPr anchorCtr="0" anchor="t" bIns="91425" lIns="91425" spcFirstLastPara="1" rIns="91425" wrap="square" tIns="91425">
            <a:spAutoFit/>
          </a:bodyPr>
          <a:lstStyle/>
          <a:p>
            <a:pPr indent="-317500" lvl="0" marL="457200" rtl="0" algn="l">
              <a:lnSpc>
                <a:spcPct val="200000"/>
              </a:lnSpc>
              <a:spcBef>
                <a:spcPts val="0"/>
              </a:spcBef>
              <a:spcAft>
                <a:spcPts val="0"/>
              </a:spcAft>
              <a:buClr>
                <a:schemeClr val="dk1"/>
              </a:buClr>
              <a:buSzPts val="1400"/>
              <a:buFont typeface="Arimo"/>
              <a:buChar char="●"/>
            </a:pPr>
            <a:r>
              <a:rPr lang="en">
                <a:solidFill>
                  <a:schemeClr val="dk1"/>
                </a:solidFill>
                <a:latin typeface="Arimo"/>
                <a:ea typeface="Arimo"/>
                <a:cs typeface="Arimo"/>
                <a:sym typeface="Arimo"/>
              </a:rPr>
              <a:t>Catastrophic forgetting</a:t>
            </a:r>
            <a:endParaRPr>
              <a:solidFill>
                <a:schemeClr val="dk1"/>
              </a:solidFill>
              <a:latin typeface="Arimo"/>
              <a:ea typeface="Arimo"/>
              <a:cs typeface="Arimo"/>
              <a:sym typeface="Arimo"/>
            </a:endParaRPr>
          </a:p>
          <a:p>
            <a:pPr indent="-317500" lvl="0" marL="457200" rtl="0" algn="l">
              <a:lnSpc>
                <a:spcPct val="200000"/>
              </a:lnSpc>
              <a:spcBef>
                <a:spcPts val="0"/>
              </a:spcBef>
              <a:spcAft>
                <a:spcPts val="0"/>
              </a:spcAft>
              <a:buClr>
                <a:schemeClr val="dk1"/>
              </a:buClr>
              <a:buSzPts val="1400"/>
              <a:buFont typeface="Arimo"/>
              <a:buChar char="●"/>
            </a:pPr>
            <a:r>
              <a:rPr lang="en">
                <a:solidFill>
                  <a:schemeClr val="dk1"/>
                </a:solidFill>
                <a:latin typeface="Arimo"/>
                <a:ea typeface="Arimo"/>
                <a:cs typeface="Arimo"/>
                <a:sym typeface="Arimo"/>
              </a:rPr>
              <a:t>Mismatch in the data</a:t>
            </a:r>
            <a:endParaRPr>
              <a:solidFill>
                <a:schemeClr val="dk1"/>
              </a:solidFill>
              <a:latin typeface="Arimo"/>
              <a:ea typeface="Arimo"/>
              <a:cs typeface="Arimo"/>
              <a:sym typeface="Arimo"/>
            </a:endParaRPr>
          </a:p>
        </p:txBody>
      </p:sp>
      <p:sp>
        <p:nvSpPr>
          <p:cNvPr id="494" name="Google Shape;494;p62"/>
          <p:cNvSpPr txBox="1"/>
          <p:nvPr/>
        </p:nvSpPr>
        <p:spPr>
          <a:xfrm>
            <a:off x="277500" y="67797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rimo"/>
                <a:ea typeface="Arimo"/>
                <a:cs typeface="Arimo"/>
                <a:sym typeface="Arimo"/>
              </a:rPr>
              <a:t>Have a system that detect a face and their emotion</a:t>
            </a:r>
            <a:endParaRPr>
              <a:solidFill>
                <a:schemeClr val="dk1"/>
              </a:solidFill>
              <a:latin typeface="Arimo"/>
              <a:ea typeface="Arimo"/>
              <a:cs typeface="Arimo"/>
              <a:sym typeface="Arim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id="499" name="Google Shape;499;p63"/>
          <p:cNvPicPr preferRelativeResize="0"/>
          <p:nvPr/>
        </p:nvPicPr>
        <p:blipFill>
          <a:blip r:embed="rId3">
            <a:alphaModFix/>
          </a:blip>
          <a:stretch>
            <a:fillRect/>
          </a:stretch>
        </p:blipFill>
        <p:spPr>
          <a:xfrm>
            <a:off x="4894400" y="268912"/>
            <a:ext cx="2999999" cy="4605686"/>
          </a:xfrm>
          <a:prstGeom prst="rect">
            <a:avLst/>
          </a:prstGeom>
          <a:noFill/>
          <a:ln>
            <a:noFill/>
          </a:ln>
        </p:spPr>
      </p:pic>
      <p:sp>
        <p:nvSpPr>
          <p:cNvPr id="500" name="Google Shape;500;p63"/>
          <p:cNvSpPr txBox="1"/>
          <p:nvPr/>
        </p:nvSpPr>
        <p:spPr>
          <a:xfrm>
            <a:off x="168425" y="277500"/>
            <a:ext cx="4294500" cy="121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3200">
                <a:solidFill>
                  <a:schemeClr val="dk1"/>
                </a:solidFill>
                <a:latin typeface="Times New Roman"/>
                <a:ea typeface="Times New Roman"/>
                <a:cs typeface="Times New Roman"/>
                <a:sym typeface="Times New Roman"/>
              </a:rPr>
              <a:t>Final YOLO System</a:t>
            </a:r>
            <a:endParaRPr b="1"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501" name="Google Shape;501;p63"/>
          <p:cNvSpPr txBox="1"/>
          <p:nvPr/>
        </p:nvSpPr>
        <p:spPr>
          <a:xfrm>
            <a:off x="209850" y="1230925"/>
            <a:ext cx="30774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rimo"/>
                <a:ea typeface="Arimo"/>
                <a:cs typeface="Arimo"/>
                <a:sym typeface="Arimo"/>
              </a:rPr>
              <a:t>YOLO mode for </a:t>
            </a:r>
            <a:r>
              <a:rPr b="1" lang="en">
                <a:solidFill>
                  <a:schemeClr val="dk1"/>
                </a:solidFill>
                <a:latin typeface="Arimo"/>
                <a:ea typeface="Arimo"/>
                <a:cs typeface="Arimo"/>
                <a:sym typeface="Arimo"/>
              </a:rPr>
              <a:t>face</a:t>
            </a:r>
            <a:r>
              <a:rPr lang="en">
                <a:solidFill>
                  <a:schemeClr val="dk1"/>
                </a:solidFill>
                <a:latin typeface="Arimo"/>
                <a:ea typeface="Arimo"/>
                <a:cs typeface="Arimo"/>
                <a:sym typeface="Arimo"/>
              </a:rPr>
              <a:t> detection:</a:t>
            </a:r>
            <a:r>
              <a:rPr lang="en">
                <a:solidFill>
                  <a:schemeClr val="dk1"/>
                </a:solidFill>
                <a:latin typeface="Azeret Mono"/>
                <a:ea typeface="Azeret Mono"/>
                <a:cs typeface="Azeret Mono"/>
                <a:sym typeface="Azeret Mono"/>
              </a:rPr>
              <a:t>  </a:t>
            </a:r>
            <a:endParaRPr>
              <a:solidFill>
                <a:schemeClr val="lt1"/>
              </a:solidFill>
              <a:latin typeface="Azeret Mono"/>
              <a:ea typeface="Azeret Mono"/>
              <a:cs typeface="Azeret Mono"/>
              <a:sym typeface="Azeret Mono"/>
            </a:endParaRPr>
          </a:p>
          <a:p>
            <a:pPr indent="0" lvl="0" marL="0" rtl="0" algn="l">
              <a:spcBef>
                <a:spcPts val="0"/>
              </a:spcBef>
              <a:spcAft>
                <a:spcPts val="0"/>
              </a:spcAft>
              <a:buNone/>
            </a:pPr>
            <a:r>
              <a:t/>
            </a:r>
            <a:endParaRPr b="1" sz="1500">
              <a:solidFill>
                <a:schemeClr val="dk1"/>
              </a:solidFill>
              <a:latin typeface="Arimo"/>
              <a:ea typeface="Arimo"/>
              <a:cs typeface="Arimo"/>
              <a:sym typeface="Arimo"/>
            </a:endParaRPr>
          </a:p>
        </p:txBody>
      </p:sp>
      <p:pic>
        <p:nvPicPr>
          <p:cNvPr id="502" name="Google Shape;502;p63"/>
          <p:cNvPicPr preferRelativeResize="0"/>
          <p:nvPr/>
        </p:nvPicPr>
        <p:blipFill rotWithShape="1">
          <a:blip r:embed="rId4">
            <a:alphaModFix/>
          </a:blip>
          <a:srcRect b="64829" l="0" r="0" t="0"/>
          <a:stretch/>
        </p:blipFill>
        <p:spPr>
          <a:xfrm>
            <a:off x="3121400" y="1230925"/>
            <a:ext cx="425300" cy="415494"/>
          </a:xfrm>
          <a:prstGeom prst="rect">
            <a:avLst/>
          </a:prstGeom>
          <a:noFill/>
          <a:ln>
            <a:noFill/>
          </a:ln>
        </p:spPr>
      </p:pic>
      <p:pic>
        <p:nvPicPr>
          <p:cNvPr id="503" name="Google Shape;503;p63"/>
          <p:cNvPicPr preferRelativeResize="0"/>
          <p:nvPr/>
        </p:nvPicPr>
        <p:blipFill rotWithShape="1">
          <a:blip r:embed="rId4">
            <a:alphaModFix/>
          </a:blip>
          <a:srcRect b="0" l="0" r="0" t="64829"/>
          <a:stretch/>
        </p:blipFill>
        <p:spPr>
          <a:xfrm>
            <a:off x="2696100" y="2421950"/>
            <a:ext cx="425307" cy="415499"/>
          </a:xfrm>
          <a:prstGeom prst="rect">
            <a:avLst/>
          </a:prstGeom>
          <a:noFill/>
          <a:ln>
            <a:noFill/>
          </a:ln>
        </p:spPr>
      </p:pic>
      <p:sp>
        <p:nvSpPr>
          <p:cNvPr id="504" name="Google Shape;504;p63"/>
          <p:cNvSpPr txBox="1"/>
          <p:nvPr/>
        </p:nvSpPr>
        <p:spPr>
          <a:xfrm>
            <a:off x="248550" y="2321900"/>
            <a:ext cx="251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rimo"/>
                <a:ea typeface="Arimo"/>
                <a:cs typeface="Arimo"/>
                <a:sym typeface="Arimo"/>
              </a:rPr>
              <a:t>YOLO mode for </a:t>
            </a:r>
            <a:r>
              <a:rPr b="1" lang="en">
                <a:solidFill>
                  <a:schemeClr val="dk1"/>
                </a:solidFill>
                <a:latin typeface="Arimo"/>
                <a:ea typeface="Arimo"/>
                <a:cs typeface="Arimo"/>
                <a:sym typeface="Arimo"/>
              </a:rPr>
              <a:t>emotion</a:t>
            </a:r>
            <a:r>
              <a:rPr lang="en">
                <a:solidFill>
                  <a:schemeClr val="dk1"/>
                </a:solidFill>
                <a:latin typeface="Arimo"/>
                <a:ea typeface="Arimo"/>
                <a:cs typeface="Arimo"/>
                <a:sym typeface="Arimo"/>
              </a:rPr>
              <a:t> detection:</a:t>
            </a:r>
            <a:r>
              <a:rPr lang="en">
                <a:solidFill>
                  <a:schemeClr val="dk1"/>
                </a:solidFill>
                <a:latin typeface="Azeret Mono"/>
                <a:ea typeface="Azeret Mono"/>
                <a:cs typeface="Azeret Mono"/>
                <a:sym typeface="Azeret Mono"/>
              </a:rPr>
              <a:t>  </a:t>
            </a:r>
            <a:endParaRPr>
              <a:solidFill>
                <a:schemeClr val="lt1"/>
              </a:solidFill>
              <a:latin typeface="Azeret Mono"/>
              <a:ea typeface="Azeret Mono"/>
              <a:cs typeface="Azeret Mono"/>
              <a:sym typeface="Azeret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4"/>
          <p:cNvSpPr/>
          <p:nvPr/>
        </p:nvSpPr>
        <p:spPr>
          <a:xfrm>
            <a:off x="277500" y="857150"/>
            <a:ext cx="3283500" cy="1265400"/>
          </a:xfrm>
          <a:prstGeom prst="roundRect">
            <a:avLst>
              <a:gd fmla="val 14571" name="adj"/>
            </a:avLst>
          </a:prstGeom>
          <a:solidFill>
            <a:schemeClr val="lt2"/>
          </a:solidFill>
          <a:ln>
            <a:noFill/>
          </a:ln>
        </p:spPr>
        <p:txBody>
          <a:bodyPr anchorCtr="0" anchor="ctr" bIns="91425" lIns="182875" spcFirstLastPara="1" rIns="182875" wrap="square" tIns="91425">
            <a:noAutofit/>
          </a:bodyPr>
          <a:lstStyle/>
          <a:p>
            <a:pPr indent="0" lvl="0" marL="0" rtl="0" algn="l">
              <a:lnSpc>
                <a:spcPct val="115000"/>
              </a:lnSpc>
              <a:spcBef>
                <a:spcPts val="0"/>
              </a:spcBef>
              <a:spcAft>
                <a:spcPts val="0"/>
              </a:spcAft>
              <a:buNone/>
            </a:pPr>
            <a:r>
              <a:t/>
            </a:r>
            <a:endParaRPr>
              <a:solidFill>
                <a:schemeClr val="lt1"/>
              </a:solidFill>
              <a:latin typeface="Arimo"/>
              <a:ea typeface="Arimo"/>
              <a:cs typeface="Arimo"/>
              <a:sym typeface="Arimo"/>
            </a:endParaRPr>
          </a:p>
        </p:txBody>
      </p:sp>
      <p:sp>
        <p:nvSpPr>
          <p:cNvPr id="510" name="Google Shape;510;p64"/>
          <p:cNvSpPr txBox="1"/>
          <p:nvPr>
            <p:ph type="title"/>
          </p:nvPr>
        </p:nvSpPr>
        <p:spPr>
          <a:xfrm>
            <a:off x="7800050" y="4390150"/>
            <a:ext cx="1164600" cy="228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800" u="sng">
                <a:solidFill>
                  <a:srgbClr val="4A86E8"/>
                </a:solidFill>
                <a:latin typeface="Times New Roman"/>
                <a:ea typeface="Times New Roman"/>
                <a:cs typeface="Times New Roman"/>
                <a:sym typeface="Times New Roman"/>
                <a:hlinkClick r:id="rId3">
                  <a:extLst>
                    <a:ext uri="{A12FA001-AC4F-418D-AE19-62706E023703}">
                      <ahyp:hlinkClr val="tx"/>
                    </a:ext>
                  </a:extLst>
                </a:hlinkClick>
              </a:rPr>
              <a:t>Whisper Official Paper</a:t>
            </a:r>
            <a:endParaRPr b="1" sz="800">
              <a:solidFill>
                <a:srgbClr val="4A86E8"/>
              </a:solidFill>
              <a:latin typeface="Times New Roman"/>
              <a:ea typeface="Times New Roman"/>
              <a:cs typeface="Times New Roman"/>
              <a:sym typeface="Times New Roman"/>
            </a:endParaRPr>
          </a:p>
        </p:txBody>
      </p:sp>
      <p:sp>
        <p:nvSpPr>
          <p:cNvPr id="511" name="Google Shape;511;p6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12" name="Google Shape;512;p64"/>
          <p:cNvSpPr txBox="1"/>
          <p:nvPr>
            <p:ph idx="14" type="title"/>
          </p:nvPr>
        </p:nvSpPr>
        <p:spPr>
          <a:xfrm>
            <a:off x="814532" y="825106"/>
            <a:ext cx="2209500" cy="2694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WHISPER</a:t>
            </a:r>
            <a:endParaRPr b="1">
              <a:latin typeface="Times New Roman"/>
              <a:ea typeface="Times New Roman"/>
              <a:cs typeface="Times New Roman"/>
              <a:sym typeface="Times New Roman"/>
            </a:endParaRPr>
          </a:p>
        </p:txBody>
      </p:sp>
      <p:sp>
        <p:nvSpPr>
          <p:cNvPr id="513" name="Google Shape;513;p64"/>
          <p:cNvSpPr txBox="1"/>
          <p:nvPr>
            <p:ph idx="15" type="title"/>
          </p:nvPr>
        </p:nvSpPr>
        <p:spPr>
          <a:xfrm>
            <a:off x="370949" y="1105250"/>
            <a:ext cx="3283500" cy="605100"/>
          </a:xfrm>
          <a:prstGeom prst="rect">
            <a:avLst/>
          </a:prstGeom>
        </p:spPr>
        <p:txBody>
          <a:bodyPr anchorCtr="0" anchor="t" bIns="182875" lIns="0" spcFirstLastPara="1" rIns="182875" wrap="square" tIns="0">
            <a:noAutofit/>
          </a:bodyPr>
          <a:lstStyle/>
          <a:p>
            <a:pPr indent="0" lvl="0" marL="0" rtl="0" algn="l">
              <a:spcBef>
                <a:spcPts val="0"/>
              </a:spcBef>
              <a:spcAft>
                <a:spcPts val="0"/>
              </a:spcAft>
              <a:buNone/>
            </a:pPr>
            <a:r>
              <a:rPr lang="en"/>
              <a:t>OpenAI’s open-source Transformer trained on 680 000 hours of noisy, multilingual audio. This model listens, transcribes, and even translates speech in almost 100 languages as it happens. It outputs text tokens that carry 20 ms-resolution timestamps, so every word can be anchored to the exact video frame in which it is spoken, giving us an airtight bridge between sound, vision, and downstream analytics.</a:t>
            </a:r>
            <a:endParaRPr/>
          </a:p>
        </p:txBody>
      </p:sp>
      <p:pic>
        <p:nvPicPr>
          <p:cNvPr id="514" name="Google Shape;514;p64"/>
          <p:cNvPicPr preferRelativeResize="0"/>
          <p:nvPr/>
        </p:nvPicPr>
        <p:blipFill>
          <a:blip r:embed="rId4">
            <a:alphaModFix/>
          </a:blip>
          <a:stretch>
            <a:fillRect/>
          </a:stretch>
        </p:blipFill>
        <p:spPr>
          <a:xfrm>
            <a:off x="3817850" y="857150"/>
            <a:ext cx="5186076" cy="3533000"/>
          </a:xfrm>
          <a:prstGeom prst="rect">
            <a:avLst/>
          </a:prstGeom>
          <a:noFill/>
          <a:ln>
            <a:noFill/>
          </a:ln>
        </p:spPr>
      </p:pic>
      <p:pic>
        <p:nvPicPr>
          <p:cNvPr id="515" name="Google Shape;515;p64"/>
          <p:cNvPicPr preferRelativeResize="0"/>
          <p:nvPr/>
        </p:nvPicPr>
        <p:blipFill rotWithShape="1">
          <a:blip r:embed="rId5">
            <a:alphaModFix/>
          </a:blip>
          <a:srcRect b="16531" l="0" r="0" t="17708"/>
          <a:stretch/>
        </p:blipFill>
        <p:spPr>
          <a:xfrm>
            <a:off x="277500" y="2217748"/>
            <a:ext cx="3283500" cy="907500"/>
          </a:xfrm>
          <a:prstGeom prst="roundRect">
            <a:avLst>
              <a:gd fmla="val 16667" name="adj"/>
            </a:avLst>
          </a:prstGeom>
          <a:noFill/>
          <a:ln>
            <a:noFill/>
          </a:ln>
        </p:spPr>
      </p:pic>
      <p:pic>
        <p:nvPicPr>
          <p:cNvPr id="516" name="Google Shape;516;p64"/>
          <p:cNvPicPr preferRelativeResize="0"/>
          <p:nvPr/>
        </p:nvPicPr>
        <p:blipFill>
          <a:blip r:embed="rId6">
            <a:alphaModFix/>
          </a:blip>
          <a:stretch>
            <a:fillRect/>
          </a:stretch>
        </p:blipFill>
        <p:spPr>
          <a:xfrm>
            <a:off x="277500" y="3220454"/>
            <a:ext cx="3283500" cy="1169700"/>
          </a:xfrm>
          <a:prstGeom prst="roundRect">
            <a:avLst>
              <a:gd fmla="val 16667" name="adj"/>
            </a:avLst>
          </a:prstGeom>
          <a:noFill/>
          <a:ln>
            <a:noFill/>
          </a:ln>
        </p:spPr>
      </p:pic>
      <p:sp>
        <p:nvSpPr>
          <p:cNvPr id="517" name="Google Shape;517;p64"/>
          <p:cNvSpPr/>
          <p:nvPr/>
        </p:nvSpPr>
        <p:spPr>
          <a:xfrm>
            <a:off x="277500" y="3847700"/>
            <a:ext cx="206100" cy="146100"/>
          </a:xfrm>
          <a:prstGeom prst="rightArrow">
            <a:avLst>
              <a:gd fmla="val 50000" name="adj1"/>
              <a:gd fmla="val 50000" name="adj2"/>
            </a:avLst>
          </a:prstGeom>
          <a:gradFill>
            <a:gsLst>
              <a:gs pos="0">
                <a:srgbClr val="FFCDA9"/>
              </a:gs>
              <a:gs pos="100000">
                <a:srgbClr val="F9832D"/>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518" name="Google Shape;518;p64"/>
          <p:cNvSpPr txBox="1"/>
          <p:nvPr>
            <p:ph type="title"/>
          </p:nvPr>
        </p:nvSpPr>
        <p:spPr>
          <a:xfrm>
            <a:off x="429900" y="340050"/>
            <a:ext cx="8589000" cy="626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3200">
                <a:latin typeface="Times New Roman"/>
                <a:ea typeface="Times New Roman"/>
                <a:cs typeface="Times New Roman"/>
                <a:sym typeface="Times New Roman"/>
              </a:rPr>
              <a:t>Real-time Speech to Text Capture </a:t>
            </a:r>
            <a:endParaRPr b="1" sz="32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5"/>
          <p:cNvSpPr/>
          <p:nvPr/>
        </p:nvSpPr>
        <p:spPr>
          <a:xfrm>
            <a:off x="561150" y="1102700"/>
            <a:ext cx="960000" cy="960000"/>
          </a:xfrm>
          <a:prstGeom prst="ellipse">
            <a:avLst/>
          </a:prstGeom>
          <a:gradFill>
            <a:gsLst>
              <a:gs pos="0">
                <a:srgbClr val="FFCDA9"/>
              </a:gs>
              <a:gs pos="100000">
                <a:srgbClr val="F9832D"/>
              </a:gs>
            </a:gsLst>
            <a:path path="circle">
              <a:fillToRect b="50%" l="50%" r="50%" t="50%"/>
            </a:path>
            <a:tileRect/>
          </a:gradFill>
          <a:ln cap="flat" cmpd="sng" w="19050">
            <a:solidFill>
              <a:srgbClr val="B45F06"/>
            </a:solidFill>
            <a:prstDash val="solid"/>
            <a:round/>
            <a:headEnd len="sm" w="sm" type="none"/>
            <a:tailEnd len="sm" w="sm" type="none"/>
          </a:ln>
          <a:effectLst>
            <a:outerShdw blurRad="57150" rotWithShape="0" algn="bl" dist="76200">
              <a:srgbClr val="000000">
                <a:alpha val="58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524" name="Google Shape;524;p65"/>
          <p:cNvSpPr txBox="1"/>
          <p:nvPr>
            <p:ph type="title"/>
          </p:nvPr>
        </p:nvSpPr>
        <p:spPr>
          <a:xfrm>
            <a:off x="427250" y="340050"/>
            <a:ext cx="6982500" cy="5805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3200">
                <a:latin typeface="Times New Roman"/>
                <a:ea typeface="Times New Roman"/>
                <a:cs typeface="Times New Roman"/>
                <a:sym typeface="Times New Roman"/>
              </a:rPr>
              <a:t>LLM-Powered Interview-Report Agent</a:t>
            </a:r>
            <a:endParaRPr b="1" sz="3200">
              <a:latin typeface="Times New Roman"/>
              <a:ea typeface="Times New Roman"/>
              <a:cs typeface="Times New Roman"/>
              <a:sym typeface="Times New Roman"/>
            </a:endParaRPr>
          </a:p>
        </p:txBody>
      </p:sp>
      <p:pic>
        <p:nvPicPr>
          <p:cNvPr id="525" name="Google Shape;525;p65"/>
          <p:cNvPicPr preferRelativeResize="0"/>
          <p:nvPr/>
        </p:nvPicPr>
        <p:blipFill>
          <a:blip r:embed="rId3">
            <a:alphaModFix/>
          </a:blip>
          <a:stretch>
            <a:fillRect/>
          </a:stretch>
        </p:blipFill>
        <p:spPr>
          <a:xfrm>
            <a:off x="718349" y="1210526"/>
            <a:ext cx="699950" cy="690624"/>
          </a:xfrm>
          <a:prstGeom prst="rect">
            <a:avLst/>
          </a:prstGeom>
          <a:noFill/>
          <a:ln>
            <a:noFill/>
          </a:ln>
        </p:spPr>
      </p:pic>
      <p:sp>
        <p:nvSpPr>
          <p:cNvPr id="526" name="Google Shape;526;p65"/>
          <p:cNvSpPr/>
          <p:nvPr/>
        </p:nvSpPr>
        <p:spPr>
          <a:xfrm>
            <a:off x="1053525" y="2571750"/>
            <a:ext cx="960000" cy="960000"/>
          </a:xfrm>
          <a:prstGeom prst="ellipse">
            <a:avLst/>
          </a:prstGeom>
          <a:gradFill>
            <a:gsLst>
              <a:gs pos="0">
                <a:srgbClr val="FFCDA9"/>
              </a:gs>
              <a:gs pos="100000">
                <a:srgbClr val="F9832D"/>
              </a:gs>
            </a:gsLst>
            <a:path path="circle">
              <a:fillToRect b="50%" l="50%" r="50%" t="50%"/>
            </a:path>
            <a:tileRect/>
          </a:gradFill>
          <a:ln cap="flat" cmpd="sng" w="19050">
            <a:solidFill>
              <a:srgbClr val="B45F06"/>
            </a:solidFill>
            <a:prstDash val="solid"/>
            <a:round/>
            <a:headEnd len="sm" w="sm" type="none"/>
            <a:tailEnd len="sm" w="sm" type="none"/>
          </a:ln>
          <a:effectLst>
            <a:outerShdw blurRad="57150" rotWithShape="0" algn="bl" dist="76200">
              <a:srgbClr val="000000">
                <a:alpha val="58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527" name="Google Shape;527;p65"/>
          <p:cNvSpPr/>
          <p:nvPr/>
        </p:nvSpPr>
        <p:spPr>
          <a:xfrm>
            <a:off x="2472350" y="3593350"/>
            <a:ext cx="960000" cy="960000"/>
          </a:xfrm>
          <a:prstGeom prst="ellipse">
            <a:avLst/>
          </a:prstGeom>
          <a:gradFill>
            <a:gsLst>
              <a:gs pos="0">
                <a:srgbClr val="FFCDA9"/>
              </a:gs>
              <a:gs pos="100000">
                <a:srgbClr val="F9832D"/>
              </a:gs>
            </a:gsLst>
            <a:path path="circle">
              <a:fillToRect b="50%" l="50%" r="50%" t="50%"/>
            </a:path>
            <a:tileRect/>
          </a:gradFill>
          <a:ln cap="flat" cmpd="sng" w="19050">
            <a:solidFill>
              <a:srgbClr val="B45F06"/>
            </a:solidFill>
            <a:prstDash val="solid"/>
            <a:round/>
            <a:headEnd len="sm" w="sm" type="none"/>
            <a:tailEnd len="sm" w="sm" type="none"/>
          </a:ln>
          <a:effectLst>
            <a:outerShdw blurRad="57150" rotWithShape="0" algn="bl" dist="76200">
              <a:srgbClr val="000000">
                <a:alpha val="58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528" name="Google Shape;528;p65"/>
          <p:cNvSpPr txBox="1"/>
          <p:nvPr>
            <p:ph type="title"/>
          </p:nvPr>
        </p:nvSpPr>
        <p:spPr>
          <a:xfrm>
            <a:off x="1156725" y="2016788"/>
            <a:ext cx="1817100" cy="300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1000"/>
              <a:t>1. </a:t>
            </a:r>
            <a:r>
              <a:rPr b="1" lang="en" sz="1000"/>
              <a:t>Import interview transcript</a:t>
            </a:r>
            <a:endParaRPr b="1" sz="1000"/>
          </a:p>
        </p:txBody>
      </p:sp>
      <p:sp>
        <p:nvSpPr>
          <p:cNvPr id="529" name="Google Shape;529;p65"/>
          <p:cNvSpPr txBox="1"/>
          <p:nvPr>
            <p:ph type="title"/>
          </p:nvPr>
        </p:nvSpPr>
        <p:spPr>
          <a:xfrm>
            <a:off x="277488" y="3498525"/>
            <a:ext cx="1630200" cy="300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1000"/>
              <a:t>2. </a:t>
            </a:r>
            <a:r>
              <a:rPr b="1" lang="en" sz="1000"/>
              <a:t>Clean &amp; timestamp rows</a:t>
            </a:r>
            <a:endParaRPr b="1" sz="1000"/>
          </a:p>
        </p:txBody>
      </p:sp>
      <p:sp>
        <p:nvSpPr>
          <p:cNvPr id="530" name="Google Shape;530;p65"/>
          <p:cNvSpPr txBox="1"/>
          <p:nvPr>
            <p:ph type="title"/>
          </p:nvPr>
        </p:nvSpPr>
        <p:spPr>
          <a:xfrm>
            <a:off x="2175204" y="4486075"/>
            <a:ext cx="2346300" cy="300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1000"/>
              <a:t>3. Extract candidate information</a:t>
            </a:r>
            <a:endParaRPr b="1" sz="1000"/>
          </a:p>
        </p:txBody>
      </p:sp>
      <p:sp>
        <p:nvSpPr>
          <p:cNvPr id="531" name="Google Shape;531;p65"/>
          <p:cNvSpPr/>
          <p:nvPr/>
        </p:nvSpPr>
        <p:spPr>
          <a:xfrm>
            <a:off x="3719900" y="2435875"/>
            <a:ext cx="960000" cy="960000"/>
          </a:xfrm>
          <a:prstGeom prst="ellipse">
            <a:avLst/>
          </a:prstGeom>
          <a:gradFill>
            <a:gsLst>
              <a:gs pos="0">
                <a:srgbClr val="FFCDA9"/>
              </a:gs>
              <a:gs pos="100000">
                <a:srgbClr val="F9832D"/>
              </a:gs>
            </a:gsLst>
            <a:path path="circle">
              <a:fillToRect b="50%" l="50%" r="50%" t="50%"/>
            </a:path>
            <a:tileRect/>
          </a:gradFill>
          <a:ln cap="flat" cmpd="sng" w="19050">
            <a:solidFill>
              <a:srgbClr val="B45F06"/>
            </a:solidFill>
            <a:prstDash val="solid"/>
            <a:round/>
            <a:headEnd len="sm" w="sm" type="none"/>
            <a:tailEnd len="sm" w="sm" type="none"/>
          </a:ln>
          <a:effectLst>
            <a:outerShdw blurRad="57150" rotWithShape="0" algn="bl" dist="76200">
              <a:srgbClr val="000000">
                <a:alpha val="58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532" name="Google Shape;532;p65"/>
          <p:cNvSpPr txBox="1"/>
          <p:nvPr>
            <p:ph type="title"/>
          </p:nvPr>
        </p:nvSpPr>
        <p:spPr>
          <a:xfrm>
            <a:off x="3519904" y="3302525"/>
            <a:ext cx="2346300" cy="300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1000"/>
              <a:t>4. Draft summary template</a:t>
            </a:r>
            <a:endParaRPr b="1" sz="1000"/>
          </a:p>
        </p:txBody>
      </p:sp>
      <p:sp>
        <p:nvSpPr>
          <p:cNvPr id="533" name="Google Shape;533;p65"/>
          <p:cNvSpPr/>
          <p:nvPr/>
        </p:nvSpPr>
        <p:spPr>
          <a:xfrm>
            <a:off x="4713175" y="1056788"/>
            <a:ext cx="960000" cy="960000"/>
          </a:xfrm>
          <a:prstGeom prst="ellipse">
            <a:avLst/>
          </a:prstGeom>
          <a:gradFill>
            <a:gsLst>
              <a:gs pos="0">
                <a:srgbClr val="FFCDA9"/>
              </a:gs>
              <a:gs pos="100000">
                <a:srgbClr val="F9832D"/>
              </a:gs>
            </a:gsLst>
            <a:path path="circle">
              <a:fillToRect b="50%" l="50%" r="50%" t="50%"/>
            </a:path>
            <a:tileRect/>
          </a:gradFill>
          <a:ln cap="flat" cmpd="sng" w="19050">
            <a:solidFill>
              <a:srgbClr val="B45F06"/>
            </a:solidFill>
            <a:prstDash val="solid"/>
            <a:round/>
            <a:headEnd len="sm" w="sm" type="none"/>
            <a:tailEnd len="sm" w="sm" type="none"/>
          </a:ln>
          <a:effectLst>
            <a:outerShdw blurRad="57150" rotWithShape="0" algn="bl" dist="76200">
              <a:srgbClr val="000000">
                <a:alpha val="58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534" name="Google Shape;534;p65"/>
          <p:cNvSpPr txBox="1"/>
          <p:nvPr>
            <p:ph type="title"/>
          </p:nvPr>
        </p:nvSpPr>
        <p:spPr>
          <a:xfrm>
            <a:off x="4513176" y="1923450"/>
            <a:ext cx="1489500" cy="300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1000"/>
              <a:t>5. LLM refines summary</a:t>
            </a:r>
            <a:endParaRPr b="1" sz="1000"/>
          </a:p>
        </p:txBody>
      </p:sp>
      <p:sp>
        <p:nvSpPr>
          <p:cNvPr id="535" name="Google Shape;535;p65"/>
          <p:cNvSpPr/>
          <p:nvPr/>
        </p:nvSpPr>
        <p:spPr>
          <a:xfrm>
            <a:off x="6449875" y="1757888"/>
            <a:ext cx="960000" cy="960000"/>
          </a:xfrm>
          <a:prstGeom prst="ellipse">
            <a:avLst/>
          </a:prstGeom>
          <a:gradFill>
            <a:gsLst>
              <a:gs pos="0">
                <a:srgbClr val="FFCDA9"/>
              </a:gs>
              <a:gs pos="100000">
                <a:srgbClr val="F9832D"/>
              </a:gs>
            </a:gsLst>
            <a:path path="circle">
              <a:fillToRect b="50%" l="50%" r="50%" t="50%"/>
            </a:path>
            <a:tileRect/>
          </a:gradFill>
          <a:ln cap="flat" cmpd="sng" w="19050">
            <a:solidFill>
              <a:srgbClr val="B45F06"/>
            </a:solidFill>
            <a:prstDash val="solid"/>
            <a:round/>
            <a:headEnd len="sm" w="sm" type="none"/>
            <a:tailEnd len="sm" w="sm" type="none"/>
          </a:ln>
          <a:effectLst>
            <a:outerShdw blurRad="57150" rotWithShape="0" algn="bl" dist="76200">
              <a:srgbClr val="000000">
                <a:alpha val="58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536" name="Google Shape;536;p65"/>
          <p:cNvSpPr txBox="1"/>
          <p:nvPr>
            <p:ph type="title"/>
          </p:nvPr>
        </p:nvSpPr>
        <p:spPr>
          <a:xfrm>
            <a:off x="6299514" y="2671338"/>
            <a:ext cx="1526400" cy="300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1000"/>
              <a:t>6</a:t>
            </a:r>
            <a:r>
              <a:rPr b="1" lang="en" sz="1000"/>
              <a:t>. </a:t>
            </a:r>
            <a:r>
              <a:rPr b="1" lang="en" sz="1000"/>
              <a:t>Assemble final report</a:t>
            </a:r>
            <a:endParaRPr b="1" sz="1000"/>
          </a:p>
        </p:txBody>
      </p:sp>
      <p:sp>
        <p:nvSpPr>
          <p:cNvPr id="537" name="Google Shape;537;p65"/>
          <p:cNvSpPr/>
          <p:nvPr/>
        </p:nvSpPr>
        <p:spPr>
          <a:xfrm>
            <a:off x="6892600" y="3449938"/>
            <a:ext cx="960000" cy="960000"/>
          </a:xfrm>
          <a:prstGeom prst="ellipse">
            <a:avLst/>
          </a:prstGeom>
          <a:gradFill>
            <a:gsLst>
              <a:gs pos="0">
                <a:srgbClr val="FFCDA9"/>
              </a:gs>
              <a:gs pos="100000">
                <a:srgbClr val="F9832D"/>
              </a:gs>
            </a:gsLst>
            <a:path path="circle">
              <a:fillToRect b="50%" l="50%" r="50%" t="50%"/>
            </a:path>
            <a:tileRect/>
          </a:gradFill>
          <a:ln cap="flat" cmpd="sng" w="19050">
            <a:solidFill>
              <a:srgbClr val="B45F06"/>
            </a:solidFill>
            <a:prstDash val="solid"/>
            <a:round/>
            <a:headEnd len="sm" w="sm" type="none"/>
            <a:tailEnd len="sm" w="sm" type="none"/>
          </a:ln>
          <a:effectLst>
            <a:outerShdw blurRad="57150" rotWithShape="0" algn="bl" dist="76200">
              <a:srgbClr val="000000">
                <a:alpha val="58999"/>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538" name="Google Shape;538;p65"/>
          <p:cNvSpPr txBox="1"/>
          <p:nvPr>
            <p:ph type="title"/>
          </p:nvPr>
        </p:nvSpPr>
        <p:spPr>
          <a:xfrm>
            <a:off x="6635554" y="4339613"/>
            <a:ext cx="2346300" cy="300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1000"/>
              <a:t>7</a:t>
            </a:r>
            <a:r>
              <a:rPr b="1" lang="en" sz="1000"/>
              <a:t>. </a:t>
            </a:r>
            <a:r>
              <a:rPr b="1" lang="en" sz="1000"/>
              <a:t>Export TXT / MD / HTML</a:t>
            </a:r>
            <a:endParaRPr b="1" sz="1000"/>
          </a:p>
        </p:txBody>
      </p:sp>
      <p:pic>
        <p:nvPicPr>
          <p:cNvPr id="539" name="Google Shape;539;p65"/>
          <p:cNvPicPr preferRelativeResize="0"/>
          <p:nvPr/>
        </p:nvPicPr>
        <p:blipFill>
          <a:blip r:embed="rId4">
            <a:alphaModFix/>
          </a:blip>
          <a:stretch>
            <a:fillRect/>
          </a:stretch>
        </p:blipFill>
        <p:spPr>
          <a:xfrm>
            <a:off x="1247426" y="2687374"/>
            <a:ext cx="572193" cy="728750"/>
          </a:xfrm>
          <a:prstGeom prst="rect">
            <a:avLst/>
          </a:prstGeom>
          <a:noFill/>
          <a:ln>
            <a:noFill/>
          </a:ln>
        </p:spPr>
      </p:pic>
      <p:pic>
        <p:nvPicPr>
          <p:cNvPr id="540" name="Google Shape;540;p65"/>
          <p:cNvPicPr preferRelativeResize="0"/>
          <p:nvPr/>
        </p:nvPicPr>
        <p:blipFill>
          <a:blip r:embed="rId5">
            <a:alphaModFix/>
          </a:blip>
          <a:stretch>
            <a:fillRect/>
          </a:stretch>
        </p:blipFill>
        <p:spPr>
          <a:xfrm>
            <a:off x="3877175" y="2509875"/>
            <a:ext cx="728750" cy="728750"/>
          </a:xfrm>
          <a:prstGeom prst="rect">
            <a:avLst/>
          </a:prstGeom>
          <a:noFill/>
          <a:ln>
            <a:noFill/>
          </a:ln>
        </p:spPr>
      </p:pic>
      <p:pic>
        <p:nvPicPr>
          <p:cNvPr id="541" name="Google Shape;541;p65"/>
          <p:cNvPicPr preferRelativeResize="0"/>
          <p:nvPr/>
        </p:nvPicPr>
        <p:blipFill>
          <a:blip r:embed="rId6">
            <a:alphaModFix/>
          </a:blip>
          <a:stretch>
            <a:fillRect/>
          </a:stretch>
        </p:blipFill>
        <p:spPr>
          <a:xfrm>
            <a:off x="4870436" y="1214063"/>
            <a:ext cx="645475" cy="645475"/>
          </a:xfrm>
          <a:prstGeom prst="rect">
            <a:avLst/>
          </a:prstGeom>
          <a:noFill/>
          <a:ln>
            <a:noFill/>
          </a:ln>
        </p:spPr>
      </p:pic>
      <p:pic>
        <p:nvPicPr>
          <p:cNvPr id="542" name="Google Shape;542;p65"/>
          <p:cNvPicPr preferRelativeResize="0"/>
          <p:nvPr/>
        </p:nvPicPr>
        <p:blipFill>
          <a:blip r:embed="rId7">
            <a:alphaModFix/>
          </a:blip>
          <a:stretch>
            <a:fillRect/>
          </a:stretch>
        </p:blipFill>
        <p:spPr>
          <a:xfrm>
            <a:off x="6565450" y="1848325"/>
            <a:ext cx="728750" cy="728750"/>
          </a:xfrm>
          <a:prstGeom prst="rect">
            <a:avLst/>
          </a:prstGeom>
          <a:noFill/>
          <a:ln>
            <a:noFill/>
          </a:ln>
        </p:spPr>
      </p:pic>
      <p:pic>
        <p:nvPicPr>
          <p:cNvPr id="543" name="Google Shape;543;p65"/>
          <p:cNvPicPr preferRelativeResize="0"/>
          <p:nvPr/>
        </p:nvPicPr>
        <p:blipFill>
          <a:blip r:embed="rId8">
            <a:alphaModFix/>
          </a:blip>
          <a:stretch>
            <a:fillRect/>
          </a:stretch>
        </p:blipFill>
        <p:spPr>
          <a:xfrm>
            <a:off x="2587975" y="3719925"/>
            <a:ext cx="728750" cy="728750"/>
          </a:xfrm>
          <a:prstGeom prst="rect">
            <a:avLst/>
          </a:prstGeom>
          <a:noFill/>
          <a:ln>
            <a:noFill/>
          </a:ln>
        </p:spPr>
      </p:pic>
      <p:pic>
        <p:nvPicPr>
          <p:cNvPr id="544" name="Google Shape;544;p65"/>
          <p:cNvPicPr preferRelativeResize="0"/>
          <p:nvPr/>
        </p:nvPicPr>
        <p:blipFill>
          <a:blip r:embed="rId9">
            <a:alphaModFix/>
          </a:blip>
          <a:stretch>
            <a:fillRect/>
          </a:stretch>
        </p:blipFill>
        <p:spPr>
          <a:xfrm>
            <a:off x="7022631" y="3579975"/>
            <a:ext cx="699937" cy="699950"/>
          </a:xfrm>
          <a:prstGeom prst="rect">
            <a:avLst/>
          </a:prstGeom>
          <a:noFill/>
          <a:ln>
            <a:noFill/>
          </a:ln>
        </p:spPr>
      </p:pic>
      <p:pic>
        <p:nvPicPr>
          <p:cNvPr id="545" name="Google Shape;545;p65"/>
          <p:cNvPicPr preferRelativeResize="0"/>
          <p:nvPr/>
        </p:nvPicPr>
        <p:blipFill>
          <a:blip r:embed="rId10">
            <a:alphaModFix/>
          </a:blip>
          <a:stretch>
            <a:fillRect/>
          </a:stretch>
        </p:blipFill>
        <p:spPr>
          <a:xfrm rot="-8402263">
            <a:off x="693692" y="2095858"/>
            <a:ext cx="648492" cy="648507"/>
          </a:xfrm>
          <a:prstGeom prst="rect">
            <a:avLst/>
          </a:prstGeom>
          <a:noFill/>
          <a:ln>
            <a:noFill/>
          </a:ln>
        </p:spPr>
      </p:pic>
      <p:pic>
        <p:nvPicPr>
          <p:cNvPr id="546" name="Google Shape;546;p65"/>
          <p:cNvPicPr preferRelativeResize="0"/>
          <p:nvPr/>
        </p:nvPicPr>
        <p:blipFill>
          <a:blip r:embed="rId10">
            <a:alphaModFix/>
          </a:blip>
          <a:stretch>
            <a:fillRect/>
          </a:stretch>
        </p:blipFill>
        <p:spPr>
          <a:xfrm flipH="1" rot="3936969">
            <a:off x="2012642" y="3077182"/>
            <a:ext cx="648493" cy="648507"/>
          </a:xfrm>
          <a:prstGeom prst="rect">
            <a:avLst/>
          </a:prstGeom>
          <a:noFill/>
          <a:ln>
            <a:noFill/>
          </a:ln>
        </p:spPr>
      </p:pic>
      <p:pic>
        <p:nvPicPr>
          <p:cNvPr id="547" name="Google Shape;547;p65"/>
          <p:cNvPicPr preferRelativeResize="0"/>
          <p:nvPr/>
        </p:nvPicPr>
        <p:blipFill>
          <a:blip r:embed="rId10">
            <a:alphaModFix/>
          </a:blip>
          <a:stretch>
            <a:fillRect/>
          </a:stretch>
        </p:blipFill>
        <p:spPr>
          <a:xfrm flipH="1" rot="-992399">
            <a:off x="3024104" y="2916333"/>
            <a:ext cx="648493" cy="648506"/>
          </a:xfrm>
          <a:prstGeom prst="rect">
            <a:avLst/>
          </a:prstGeom>
          <a:noFill/>
          <a:ln>
            <a:noFill/>
          </a:ln>
        </p:spPr>
      </p:pic>
      <p:pic>
        <p:nvPicPr>
          <p:cNvPr id="548" name="Google Shape;548;p65"/>
          <p:cNvPicPr preferRelativeResize="0"/>
          <p:nvPr/>
        </p:nvPicPr>
        <p:blipFill>
          <a:blip r:embed="rId10">
            <a:alphaModFix/>
          </a:blip>
          <a:stretch>
            <a:fillRect/>
          </a:stretch>
        </p:blipFill>
        <p:spPr>
          <a:xfrm rot="5737221">
            <a:off x="4602204" y="2107045"/>
            <a:ext cx="648492" cy="648506"/>
          </a:xfrm>
          <a:prstGeom prst="rect">
            <a:avLst/>
          </a:prstGeom>
          <a:noFill/>
          <a:ln>
            <a:noFill/>
          </a:ln>
        </p:spPr>
      </p:pic>
      <p:pic>
        <p:nvPicPr>
          <p:cNvPr id="549" name="Google Shape;549;p65"/>
          <p:cNvPicPr preferRelativeResize="0"/>
          <p:nvPr/>
        </p:nvPicPr>
        <p:blipFill>
          <a:blip r:embed="rId10">
            <a:alphaModFix/>
          </a:blip>
          <a:stretch>
            <a:fillRect/>
          </a:stretch>
        </p:blipFill>
        <p:spPr>
          <a:xfrm flipH="1" rot="3680730">
            <a:off x="5871266" y="1298420"/>
            <a:ext cx="648493" cy="648506"/>
          </a:xfrm>
          <a:prstGeom prst="rect">
            <a:avLst/>
          </a:prstGeom>
          <a:noFill/>
          <a:ln>
            <a:noFill/>
          </a:ln>
        </p:spPr>
      </p:pic>
      <p:pic>
        <p:nvPicPr>
          <p:cNvPr id="550" name="Google Shape;550;p65"/>
          <p:cNvPicPr preferRelativeResize="0"/>
          <p:nvPr/>
        </p:nvPicPr>
        <p:blipFill>
          <a:blip r:embed="rId10">
            <a:alphaModFix/>
          </a:blip>
          <a:stretch>
            <a:fillRect/>
          </a:stretch>
        </p:blipFill>
        <p:spPr>
          <a:xfrm rot="-8444177">
            <a:off x="6298629" y="3008907"/>
            <a:ext cx="648492" cy="6485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6"/>
          <p:cNvSpPr txBox="1"/>
          <p:nvPr>
            <p:ph type="title"/>
          </p:nvPr>
        </p:nvSpPr>
        <p:spPr>
          <a:xfrm>
            <a:off x="436750" y="345650"/>
            <a:ext cx="5525100" cy="5592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3200">
                <a:latin typeface="Times New Roman"/>
                <a:ea typeface="Times New Roman"/>
                <a:cs typeface="Times New Roman"/>
                <a:sym typeface="Times New Roman"/>
              </a:rPr>
              <a:t>Evolution of agent development</a:t>
            </a:r>
            <a:endParaRPr b="1" sz="3200">
              <a:latin typeface="Times New Roman"/>
              <a:ea typeface="Times New Roman"/>
              <a:cs typeface="Times New Roman"/>
              <a:sym typeface="Times New Roman"/>
            </a:endParaRPr>
          </a:p>
        </p:txBody>
      </p:sp>
      <p:sp>
        <p:nvSpPr>
          <p:cNvPr id="556" name="Google Shape;556;p66"/>
          <p:cNvSpPr txBox="1"/>
          <p:nvPr>
            <p:ph idx="12" type="sldNum"/>
          </p:nvPr>
        </p:nvSpPr>
        <p:spPr>
          <a:xfrm>
            <a:off x="8363748" y="4675488"/>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557" name="Google Shape;557;p66"/>
          <p:cNvPicPr preferRelativeResize="0"/>
          <p:nvPr/>
        </p:nvPicPr>
        <p:blipFill rotWithShape="1">
          <a:blip r:embed="rId3">
            <a:alphaModFix/>
          </a:blip>
          <a:srcRect b="0" l="27373" r="49201" t="0"/>
          <a:stretch/>
        </p:blipFill>
        <p:spPr>
          <a:xfrm>
            <a:off x="436750" y="1030650"/>
            <a:ext cx="2427000" cy="3800400"/>
          </a:xfrm>
          <a:prstGeom prst="roundRect">
            <a:avLst>
              <a:gd fmla="val 9632" name="adj"/>
            </a:avLst>
          </a:prstGeom>
          <a:noFill/>
          <a:ln>
            <a:noFill/>
          </a:ln>
        </p:spPr>
      </p:pic>
      <p:sp>
        <p:nvSpPr>
          <p:cNvPr id="558" name="Google Shape;558;p66"/>
          <p:cNvSpPr txBox="1"/>
          <p:nvPr/>
        </p:nvSpPr>
        <p:spPr>
          <a:xfrm>
            <a:off x="937752" y="1033953"/>
            <a:ext cx="14250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700">
                <a:solidFill>
                  <a:schemeClr val="dk1"/>
                </a:solidFill>
                <a:latin typeface="Arimo"/>
                <a:ea typeface="Arimo"/>
                <a:cs typeface="Arimo"/>
                <a:sym typeface="Arimo"/>
              </a:rPr>
              <a:t>1º Phase</a:t>
            </a:r>
            <a:endParaRPr b="1" sz="1200">
              <a:solidFill>
                <a:schemeClr val="dk1"/>
              </a:solidFill>
              <a:latin typeface="Arimo"/>
              <a:ea typeface="Arimo"/>
              <a:cs typeface="Arimo"/>
              <a:sym typeface="Arimo"/>
            </a:endParaRPr>
          </a:p>
        </p:txBody>
      </p:sp>
      <p:sp>
        <p:nvSpPr>
          <p:cNvPr id="559" name="Google Shape;559;p66"/>
          <p:cNvSpPr txBox="1"/>
          <p:nvPr/>
        </p:nvSpPr>
        <p:spPr>
          <a:xfrm>
            <a:off x="495477" y="1313850"/>
            <a:ext cx="2311200" cy="35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a:solidFill>
                  <a:schemeClr val="dk1"/>
                </a:solidFill>
                <a:latin typeface="Arimo"/>
                <a:ea typeface="Arimo"/>
                <a:cs typeface="Arimo"/>
                <a:sym typeface="Arimo"/>
              </a:rPr>
              <a:t>Advanced models </a:t>
            </a:r>
            <a:r>
              <a:rPr i="1" lang="en" sz="1200">
                <a:solidFill>
                  <a:schemeClr val="dk1"/>
                </a:solidFill>
                <a:latin typeface="Arimo"/>
                <a:ea typeface="Arimo"/>
                <a:cs typeface="Arimo"/>
                <a:sym typeface="Arimo"/>
              </a:rPr>
              <a:t>(beginning of the project)</a:t>
            </a:r>
            <a:endParaRPr i="1" sz="1200">
              <a:solidFill>
                <a:schemeClr val="dk1"/>
              </a:solidFill>
              <a:latin typeface="Arimo"/>
              <a:ea typeface="Arimo"/>
              <a:cs typeface="Arimo"/>
              <a:sym typeface="Arimo"/>
            </a:endParaRPr>
          </a:p>
        </p:txBody>
      </p:sp>
      <p:sp>
        <p:nvSpPr>
          <p:cNvPr id="560" name="Google Shape;560;p66"/>
          <p:cNvSpPr txBox="1"/>
          <p:nvPr/>
        </p:nvSpPr>
        <p:spPr>
          <a:xfrm>
            <a:off x="495477" y="1313850"/>
            <a:ext cx="2311200" cy="35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a:solidFill>
                  <a:schemeClr val="dk1"/>
                </a:solidFill>
                <a:latin typeface="Arimo"/>
                <a:ea typeface="Arimo"/>
                <a:cs typeface="Arimo"/>
                <a:sym typeface="Arimo"/>
              </a:rPr>
              <a:t>Advanced models </a:t>
            </a:r>
            <a:r>
              <a:rPr i="1" lang="en" sz="1200">
                <a:solidFill>
                  <a:schemeClr val="dk1"/>
                </a:solidFill>
                <a:latin typeface="Arimo"/>
                <a:ea typeface="Arimo"/>
                <a:cs typeface="Arimo"/>
                <a:sym typeface="Arimo"/>
              </a:rPr>
              <a:t>(beginning of the project)</a:t>
            </a:r>
            <a:endParaRPr i="1" sz="1200">
              <a:solidFill>
                <a:schemeClr val="dk1"/>
              </a:solidFill>
              <a:latin typeface="Arimo"/>
              <a:ea typeface="Arimo"/>
              <a:cs typeface="Arimo"/>
              <a:sym typeface="Arimo"/>
            </a:endParaRPr>
          </a:p>
        </p:txBody>
      </p:sp>
      <p:sp>
        <p:nvSpPr>
          <p:cNvPr id="561" name="Google Shape;561;p66"/>
          <p:cNvSpPr txBox="1"/>
          <p:nvPr/>
        </p:nvSpPr>
        <p:spPr>
          <a:xfrm>
            <a:off x="456128" y="1769250"/>
            <a:ext cx="8790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Models</a:t>
            </a:r>
            <a:endParaRPr b="1" i="1" sz="1200">
              <a:solidFill>
                <a:schemeClr val="dk1"/>
              </a:solidFill>
              <a:latin typeface="Arimo"/>
              <a:ea typeface="Arimo"/>
              <a:cs typeface="Arimo"/>
              <a:sym typeface="Arimo"/>
            </a:endParaRPr>
          </a:p>
        </p:txBody>
      </p:sp>
      <p:cxnSp>
        <p:nvCxnSpPr>
          <p:cNvPr id="562" name="Google Shape;562;p66"/>
          <p:cNvCxnSpPr/>
          <p:nvPr/>
        </p:nvCxnSpPr>
        <p:spPr>
          <a:xfrm>
            <a:off x="456128" y="1730450"/>
            <a:ext cx="2399100" cy="0"/>
          </a:xfrm>
          <a:prstGeom prst="straightConnector1">
            <a:avLst/>
          </a:prstGeom>
          <a:noFill/>
          <a:ln cap="flat" cmpd="sng" w="9525">
            <a:solidFill>
              <a:schemeClr val="dk2"/>
            </a:solidFill>
            <a:prstDash val="solid"/>
            <a:round/>
            <a:headEnd len="med" w="med" type="none"/>
            <a:tailEnd len="med" w="med" type="none"/>
          </a:ln>
        </p:spPr>
      </p:cxnSp>
      <p:sp>
        <p:nvSpPr>
          <p:cNvPr id="563" name="Google Shape;563;p66"/>
          <p:cNvSpPr txBox="1"/>
          <p:nvPr/>
        </p:nvSpPr>
        <p:spPr>
          <a:xfrm>
            <a:off x="342950" y="1953150"/>
            <a:ext cx="2427000" cy="4209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O</a:t>
            </a:r>
            <a:r>
              <a:rPr lang="en" sz="800">
                <a:solidFill>
                  <a:schemeClr val="dk1"/>
                </a:solidFill>
                <a:latin typeface="Arimo"/>
                <a:ea typeface="Arimo"/>
                <a:cs typeface="Arimo"/>
                <a:sym typeface="Arimo"/>
              </a:rPr>
              <a:t>penAI GPT-4 Turbo 128k</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Mistral-7B-Instruct-v0.2</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b="1" lang="en" sz="800">
                <a:solidFill>
                  <a:schemeClr val="dk1"/>
                </a:solidFill>
                <a:latin typeface="Arimo"/>
                <a:ea typeface="Arimo"/>
                <a:cs typeface="Arimo"/>
                <a:sym typeface="Arimo"/>
              </a:rPr>
              <a:t>Llama 3-8B-Instruct</a:t>
            </a:r>
            <a:endParaRPr b="1" sz="800">
              <a:solidFill>
                <a:schemeClr val="dk1"/>
              </a:solidFill>
              <a:latin typeface="Arimo"/>
              <a:ea typeface="Arimo"/>
              <a:cs typeface="Arimo"/>
              <a:sym typeface="Arimo"/>
            </a:endParaRPr>
          </a:p>
        </p:txBody>
      </p:sp>
      <p:sp>
        <p:nvSpPr>
          <p:cNvPr id="564" name="Google Shape;564;p66"/>
          <p:cNvSpPr txBox="1"/>
          <p:nvPr/>
        </p:nvSpPr>
        <p:spPr>
          <a:xfrm>
            <a:off x="495491" y="2430250"/>
            <a:ext cx="12327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Advantages</a:t>
            </a:r>
            <a:endParaRPr b="1" i="1" sz="1200">
              <a:solidFill>
                <a:schemeClr val="dk1"/>
              </a:solidFill>
              <a:latin typeface="Arimo"/>
              <a:ea typeface="Arimo"/>
              <a:cs typeface="Arimo"/>
              <a:sym typeface="Arimo"/>
            </a:endParaRPr>
          </a:p>
        </p:txBody>
      </p:sp>
      <p:sp>
        <p:nvSpPr>
          <p:cNvPr id="565" name="Google Shape;565;p66"/>
          <p:cNvSpPr txBox="1"/>
          <p:nvPr/>
        </p:nvSpPr>
        <p:spPr>
          <a:xfrm>
            <a:off x="342950" y="2622300"/>
            <a:ext cx="2427000" cy="5124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Rich, human-like narrative that impressed recruiters.</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Could digest full 2-hour transcripts without trimming.</a:t>
            </a:r>
            <a:endParaRPr sz="800">
              <a:solidFill>
                <a:schemeClr val="dk1"/>
              </a:solidFill>
              <a:latin typeface="Arimo"/>
              <a:ea typeface="Arimo"/>
              <a:cs typeface="Arimo"/>
              <a:sym typeface="Arimo"/>
            </a:endParaRPr>
          </a:p>
        </p:txBody>
      </p:sp>
      <p:sp>
        <p:nvSpPr>
          <p:cNvPr id="566" name="Google Shape;566;p66"/>
          <p:cNvSpPr txBox="1"/>
          <p:nvPr/>
        </p:nvSpPr>
        <p:spPr>
          <a:xfrm>
            <a:off x="495491" y="3155700"/>
            <a:ext cx="15063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Disadvantages</a:t>
            </a:r>
            <a:endParaRPr b="1" i="1" sz="1200">
              <a:solidFill>
                <a:schemeClr val="dk1"/>
              </a:solidFill>
              <a:latin typeface="Arimo"/>
              <a:ea typeface="Arimo"/>
              <a:cs typeface="Arimo"/>
              <a:sym typeface="Arimo"/>
            </a:endParaRPr>
          </a:p>
        </p:txBody>
      </p:sp>
      <p:sp>
        <p:nvSpPr>
          <p:cNvPr id="567" name="Google Shape;567;p66"/>
          <p:cNvSpPr txBox="1"/>
          <p:nvPr/>
        </p:nvSpPr>
        <p:spPr>
          <a:xfrm>
            <a:off x="342950" y="3357450"/>
            <a:ext cx="2427000" cy="6036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b="1" lang="en" sz="800">
                <a:solidFill>
                  <a:schemeClr val="dk1"/>
                </a:solidFill>
                <a:latin typeface="Arimo"/>
                <a:ea typeface="Arimo"/>
                <a:cs typeface="Arimo"/>
                <a:sym typeface="Arimo"/>
              </a:rPr>
              <a:t>10 minutes</a:t>
            </a:r>
            <a:r>
              <a:rPr lang="en" sz="800">
                <a:solidFill>
                  <a:schemeClr val="dk1"/>
                </a:solidFill>
                <a:latin typeface="Arimo"/>
                <a:ea typeface="Arimo"/>
                <a:cs typeface="Arimo"/>
                <a:sym typeface="Arimo"/>
              </a:rPr>
              <a:t> </a:t>
            </a:r>
            <a:r>
              <a:rPr lang="en" sz="800">
                <a:solidFill>
                  <a:schemeClr val="dk1"/>
                </a:solidFill>
                <a:latin typeface="Arimo"/>
                <a:ea typeface="Arimo"/>
                <a:cs typeface="Arimo"/>
                <a:sym typeface="Arimo"/>
              </a:rPr>
              <a:t>average</a:t>
            </a:r>
            <a:r>
              <a:rPr lang="en" sz="800">
                <a:solidFill>
                  <a:schemeClr val="dk1"/>
                </a:solidFill>
                <a:latin typeface="Arimo"/>
                <a:ea typeface="Arimo"/>
                <a:cs typeface="Arimo"/>
                <a:sym typeface="Arimo"/>
              </a:rPr>
              <a:t> latency for free models due to computational cost</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$0.50 + per report with GPT-4.</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Very high computational and token cost</a:t>
            </a:r>
            <a:endParaRPr sz="800">
              <a:solidFill>
                <a:schemeClr val="dk1"/>
              </a:solidFill>
              <a:latin typeface="Arimo"/>
              <a:ea typeface="Arimo"/>
              <a:cs typeface="Arimo"/>
              <a:sym typeface="Arimo"/>
            </a:endParaRPr>
          </a:p>
        </p:txBody>
      </p:sp>
      <p:cxnSp>
        <p:nvCxnSpPr>
          <p:cNvPr id="568" name="Google Shape;568;p66"/>
          <p:cNvCxnSpPr/>
          <p:nvPr/>
        </p:nvCxnSpPr>
        <p:spPr>
          <a:xfrm>
            <a:off x="456128" y="2416250"/>
            <a:ext cx="2399100" cy="0"/>
          </a:xfrm>
          <a:prstGeom prst="straightConnector1">
            <a:avLst/>
          </a:prstGeom>
          <a:noFill/>
          <a:ln cap="flat" cmpd="sng" w="9525">
            <a:solidFill>
              <a:schemeClr val="dk2"/>
            </a:solidFill>
            <a:prstDash val="solid"/>
            <a:round/>
            <a:headEnd len="med" w="med" type="none"/>
            <a:tailEnd len="med" w="med" type="none"/>
          </a:ln>
        </p:spPr>
      </p:cxnSp>
      <p:cxnSp>
        <p:nvCxnSpPr>
          <p:cNvPr id="569" name="Google Shape;569;p66"/>
          <p:cNvCxnSpPr/>
          <p:nvPr/>
        </p:nvCxnSpPr>
        <p:spPr>
          <a:xfrm>
            <a:off x="456128" y="3178250"/>
            <a:ext cx="2399100" cy="0"/>
          </a:xfrm>
          <a:prstGeom prst="straightConnector1">
            <a:avLst/>
          </a:prstGeom>
          <a:noFill/>
          <a:ln cap="flat" cmpd="sng" w="9525">
            <a:solidFill>
              <a:schemeClr val="dk2"/>
            </a:solidFill>
            <a:prstDash val="solid"/>
            <a:round/>
            <a:headEnd len="med" w="med" type="none"/>
            <a:tailEnd len="med" w="med" type="none"/>
          </a:ln>
        </p:spPr>
      </p:cxnSp>
      <p:cxnSp>
        <p:nvCxnSpPr>
          <p:cNvPr id="570" name="Google Shape;570;p66"/>
          <p:cNvCxnSpPr/>
          <p:nvPr/>
        </p:nvCxnSpPr>
        <p:spPr>
          <a:xfrm>
            <a:off x="458789" y="3988550"/>
            <a:ext cx="2399100" cy="0"/>
          </a:xfrm>
          <a:prstGeom prst="straightConnector1">
            <a:avLst/>
          </a:prstGeom>
          <a:noFill/>
          <a:ln cap="flat" cmpd="sng" w="9525">
            <a:solidFill>
              <a:schemeClr val="dk2"/>
            </a:solidFill>
            <a:prstDash val="solid"/>
            <a:round/>
            <a:headEnd len="med" w="med" type="none"/>
            <a:tailEnd len="med" w="med" type="none"/>
          </a:ln>
        </p:spPr>
      </p:cxnSp>
      <p:sp>
        <p:nvSpPr>
          <p:cNvPr id="571" name="Google Shape;571;p66"/>
          <p:cNvSpPr txBox="1"/>
          <p:nvPr/>
        </p:nvSpPr>
        <p:spPr>
          <a:xfrm>
            <a:off x="495491" y="4016050"/>
            <a:ext cx="15063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Next Steps</a:t>
            </a:r>
            <a:r>
              <a:rPr lang="en" sz="1200">
                <a:solidFill>
                  <a:schemeClr val="dk1"/>
                </a:solidFill>
                <a:latin typeface="Arimo"/>
                <a:ea typeface="Arimo"/>
                <a:cs typeface="Arimo"/>
                <a:sym typeface="Arimo"/>
              </a:rPr>
              <a:t>:</a:t>
            </a:r>
            <a:endParaRPr i="1" sz="1200">
              <a:solidFill>
                <a:schemeClr val="dk1"/>
              </a:solidFill>
              <a:latin typeface="Arimo"/>
              <a:ea typeface="Arimo"/>
              <a:cs typeface="Arimo"/>
              <a:sym typeface="Arimo"/>
            </a:endParaRPr>
          </a:p>
        </p:txBody>
      </p:sp>
      <p:sp>
        <p:nvSpPr>
          <p:cNvPr id="572" name="Google Shape;572;p66"/>
          <p:cNvSpPr txBox="1"/>
          <p:nvPr/>
        </p:nvSpPr>
        <p:spPr>
          <a:xfrm>
            <a:off x="328275" y="4153350"/>
            <a:ext cx="2427000" cy="6036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Cut latency &amp; cost while keeping acceptable quality.</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Target on-prem inference to satisfy data-sovereignty rules.</a:t>
            </a:r>
            <a:endParaRPr sz="800">
              <a:solidFill>
                <a:schemeClr val="dk1"/>
              </a:solidFill>
              <a:latin typeface="Arimo"/>
              <a:ea typeface="Arimo"/>
              <a:cs typeface="Arimo"/>
              <a:sym typeface="Arimo"/>
            </a:endParaRPr>
          </a:p>
        </p:txBody>
      </p:sp>
      <p:pic>
        <p:nvPicPr>
          <p:cNvPr id="573" name="Google Shape;573;p66"/>
          <p:cNvPicPr preferRelativeResize="0"/>
          <p:nvPr/>
        </p:nvPicPr>
        <p:blipFill rotWithShape="1">
          <a:blip r:embed="rId3">
            <a:alphaModFix/>
          </a:blip>
          <a:srcRect b="0" l="27373" r="49201" t="0"/>
          <a:stretch/>
        </p:blipFill>
        <p:spPr>
          <a:xfrm>
            <a:off x="3412750" y="1015350"/>
            <a:ext cx="2427000" cy="3815700"/>
          </a:xfrm>
          <a:prstGeom prst="roundRect">
            <a:avLst>
              <a:gd fmla="val 9632" name="adj"/>
            </a:avLst>
          </a:prstGeom>
          <a:noFill/>
          <a:ln>
            <a:noFill/>
          </a:ln>
        </p:spPr>
      </p:pic>
      <p:sp>
        <p:nvSpPr>
          <p:cNvPr id="574" name="Google Shape;574;p66"/>
          <p:cNvSpPr txBox="1"/>
          <p:nvPr/>
        </p:nvSpPr>
        <p:spPr>
          <a:xfrm>
            <a:off x="3913739" y="1018653"/>
            <a:ext cx="14250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700">
                <a:solidFill>
                  <a:schemeClr val="dk1"/>
                </a:solidFill>
                <a:latin typeface="Arimo"/>
                <a:ea typeface="Arimo"/>
                <a:cs typeface="Arimo"/>
                <a:sym typeface="Arimo"/>
              </a:rPr>
              <a:t>2</a:t>
            </a:r>
            <a:r>
              <a:rPr b="1" lang="en" sz="1700">
                <a:solidFill>
                  <a:schemeClr val="dk1"/>
                </a:solidFill>
                <a:latin typeface="Arimo"/>
                <a:ea typeface="Arimo"/>
                <a:cs typeface="Arimo"/>
                <a:sym typeface="Arimo"/>
              </a:rPr>
              <a:t>º Phase</a:t>
            </a:r>
            <a:endParaRPr b="1" sz="1200">
              <a:solidFill>
                <a:schemeClr val="dk1"/>
              </a:solidFill>
              <a:latin typeface="Arimo"/>
              <a:ea typeface="Arimo"/>
              <a:cs typeface="Arimo"/>
              <a:sym typeface="Arimo"/>
            </a:endParaRPr>
          </a:p>
        </p:txBody>
      </p:sp>
      <p:sp>
        <p:nvSpPr>
          <p:cNvPr id="575" name="Google Shape;575;p66"/>
          <p:cNvSpPr txBox="1"/>
          <p:nvPr/>
        </p:nvSpPr>
        <p:spPr>
          <a:xfrm>
            <a:off x="3344951" y="1320250"/>
            <a:ext cx="2562600" cy="35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a:solidFill>
                  <a:schemeClr val="dk1"/>
                </a:solidFill>
                <a:latin typeface="Arimo"/>
                <a:ea typeface="Arimo"/>
                <a:cs typeface="Arimo"/>
                <a:sym typeface="Arimo"/>
              </a:rPr>
              <a:t>Mid-size &amp; Tiny Open Models + Heavy Prompting</a:t>
            </a:r>
            <a:endParaRPr i="1" sz="1200">
              <a:solidFill>
                <a:schemeClr val="dk1"/>
              </a:solidFill>
              <a:latin typeface="Arimo"/>
              <a:ea typeface="Arimo"/>
              <a:cs typeface="Arimo"/>
              <a:sym typeface="Arimo"/>
            </a:endParaRPr>
          </a:p>
        </p:txBody>
      </p:sp>
      <p:sp>
        <p:nvSpPr>
          <p:cNvPr id="576" name="Google Shape;576;p66"/>
          <p:cNvSpPr txBox="1"/>
          <p:nvPr/>
        </p:nvSpPr>
        <p:spPr>
          <a:xfrm>
            <a:off x="3432116" y="1753950"/>
            <a:ext cx="8790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Models</a:t>
            </a:r>
            <a:endParaRPr b="1" i="1" sz="1200">
              <a:solidFill>
                <a:schemeClr val="dk1"/>
              </a:solidFill>
              <a:latin typeface="Arimo"/>
              <a:ea typeface="Arimo"/>
              <a:cs typeface="Arimo"/>
              <a:sym typeface="Arimo"/>
            </a:endParaRPr>
          </a:p>
        </p:txBody>
      </p:sp>
      <p:cxnSp>
        <p:nvCxnSpPr>
          <p:cNvPr id="577" name="Google Shape;577;p66"/>
          <p:cNvCxnSpPr/>
          <p:nvPr/>
        </p:nvCxnSpPr>
        <p:spPr>
          <a:xfrm>
            <a:off x="3432116" y="1715150"/>
            <a:ext cx="2399100" cy="0"/>
          </a:xfrm>
          <a:prstGeom prst="straightConnector1">
            <a:avLst/>
          </a:prstGeom>
          <a:noFill/>
          <a:ln cap="flat" cmpd="sng" w="9525">
            <a:solidFill>
              <a:schemeClr val="dk2"/>
            </a:solidFill>
            <a:prstDash val="solid"/>
            <a:round/>
            <a:headEnd len="med" w="med" type="none"/>
            <a:tailEnd len="med" w="med" type="none"/>
          </a:ln>
        </p:spPr>
      </p:cxnSp>
      <p:sp>
        <p:nvSpPr>
          <p:cNvPr id="578" name="Google Shape;578;p66"/>
          <p:cNvSpPr txBox="1"/>
          <p:nvPr/>
        </p:nvSpPr>
        <p:spPr>
          <a:xfrm>
            <a:off x="3318950" y="1937850"/>
            <a:ext cx="2613000" cy="4770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b="1" lang="en" sz="800">
                <a:solidFill>
                  <a:schemeClr val="dk1"/>
                </a:solidFill>
                <a:latin typeface="Arimo"/>
                <a:ea typeface="Arimo"/>
                <a:cs typeface="Arimo"/>
                <a:sym typeface="Arimo"/>
              </a:rPr>
              <a:t>BART-Large-CNN SAMSum (Philschmid)</a:t>
            </a:r>
            <a:endParaRPr b="1"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Llama-2-7b-chat-hf</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Microsoft Phi-3-mini-4k-Instruct</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Google Gemma-2B-IT</a:t>
            </a:r>
            <a:endParaRPr sz="800">
              <a:solidFill>
                <a:schemeClr val="dk1"/>
              </a:solidFill>
              <a:latin typeface="Arimo"/>
              <a:ea typeface="Arimo"/>
              <a:cs typeface="Arimo"/>
              <a:sym typeface="Arimo"/>
            </a:endParaRPr>
          </a:p>
        </p:txBody>
      </p:sp>
      <p:sp>
        <p:nvSpPr>
          <p:cNvPr id="579" name="Google Shape;579;p66"/>
          <p:cNvSpPr txBox="1"/>
          <p:nvPr/>
        </p:nvSpPr>
        <p:spPr>
          <a:xfrm>
            <a:off x="3471479" y="2491150"/>
            <a:ext cx="12327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Advantages</a:t>
            </a:r>
            <a:endParaRPr b="1" i="1" sz="1200">
              <a:solidFill>
                <a:schemeClr val="dk1"/>
              </a:solidFill>
              <a:latin typeface="Arimo"/>
              <a:ea typeface="Arimo"/>
              <a:cs typeface="Arimo"/>
              <a:sym typeface="Arimo"/>
            </a:endParaRPr>
          </a:p>
        </p:txBody>
      </p:sp>
      <p:sp>
        <p:nvSpPr>
          <p:cNvPr id="580" name="Google Shape;580;p66"/>
          <p:cNvSpPr txBox="1"/>
          <p:nvPr/>
        </p:nvSpPr>
        <p:spPr>
          <a:xfrm>
            <a:off x="3318950" y="2651400"/>
            <a:ext cx="2427000" cy="5592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On-prem GPU deployment slashed cost ≈ 75 %.</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Tight prompts enforced consistent section headers.</a:t>
            </a:r>
            <a:endParaRPr sz="800">
              <a:solidFill>
                <a:schemeClr val="dk1"/>
              </a:solidFill>
              <a:latin typeface="Arimo"/>
              <a:ea typeface="Arimo"/>
              <a:cs typeface="Arimo"/>
              <a:sym typeface="Arimo"/>
            </a:endParaRPr>
          </a:p>
        </p:txBody>
      </p:sp>
      <p:sp>
        <p:nvSpPr>
          <p:cNvPr id="581" name="Google Shape;581;p66"/>
          <p:cNvSpPr txBox="1"/>
          <p:nvPr/>
        </p:nvSpPr>
        <p:spPr>
          <a:xfrm>
            <a:off x="3471479" y="3216600"/>
            <a:ext cx="15063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Disadvantages</a:t>
            </a:r>
            <a:endParaRPr b="1" i="1" sz="1200">
              <a:solidFill>
                <a:schemeClr val="dk1"/>
              </a:solidFill>
              <a:latin typeface="Arimo"/>
              <a:ea typeface="Arimo"/>
              <a:cs typeface="Arimo"/>
              <a:sym typeface="Arimo"/>
            </a:endParaRPr>
          </a:p>
        </p:txBody>
      </p:sp>
      <p:sp>
        <p:nvSpPr>
          <p:cNvPr id="582" name="Google Shape;582;p66"/>
          <p:cNvSpPr txBox="1"/>
          <p:nvPr/>
        </p:nvSpPr>
        <p:spPr>
          <a:xfrm>
            <a:off x="3318950" y="3418350"/>
            <a:ext cx="2520900" cy="6036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Candidate-info extraction + external search added ~ 4mins, so overall latency stayed ≈ </a:t>
            </a:r>
            <a:r>
              <a:rPr b="1" lang="en" sz="800">
                <a:solidFill>
                  <a:schemeClr val="dk1"/>
                </a:solidFill>
                <a:latin typeface="Arimo"/>
                <a:ea typeface="Arimo"/>
                <a:cs typeface="Arimo"/>
                <a:sym typeface="Arimo"/>
              </a:rPr>
              <a:t>7mins</a:t>
            </a:r>
            <a:r>
              <a:rPr lang="en" sz="800">
                <a:solidFill>
                  <a:schemeClr val="dk1"/>
                </a:solidFill>
                <a:latin typeface="Arimo"/>
                <a:ea typeface="Arimo"/>
                <a:cs typeface="Arimo"/>
                <a:sym typeface="Arimo"/>
              </a:rPr>
              <a:t>.</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Language felt formulaic; occasional factual slips.</a:t>
            </a:r>
            <a:endParaRPr sz="800">
              <a:solidFill>
                <a:schemeClr val="dk1"/>
              </a:solidFill>
              <a:latin typeface="Arimo"/>
              <a:ea typeface="Arimo"/>
              <a:cs typeface="Arimo"/>
              <a:sym typeface="Arimo"/>
            </a:endParaRPr>
          </a:p>
        </p:txBody>
      </p:sp>
      <p:cxnSp>
        <p:nvCxnSpPr>
          <p:cNvPr id="583" name="Google Shape;583;p66"/>
          <p:cNvCxnSpPr/>
          <p:nvPr/>
        </p:nvCxnSpPr>
        <p:spPr>
          <a:xfrm>
            <a:off x="3432116" y="2477150"/>
            <a:ext cx="2399100" cy="0"/>
          </a:xfrm>
          <a:prstGeom prst="straightConnector1">
            <a:avLst/>
          </a:prstGeom>
          <a:noFill/>
          <a:ln cap="flat" cmpd="sng" w="9525">
            <a:solidFill>
              <a:schemeClr val="dk2"/>
            </a:solidFill>
            <a:prstDash val="solid"/>
            <a:round/>
            <a:headEnd len="med" w="med" type="none"/>
            <a:tailEnd len="med" w="med" type="none"/>
          </a:ln>
        </p:spPr>
      </p:cxnSp>
      <p:cxnSp>
        <p:nvCxnSpPr>
          <p:cNvPr id="584" name="Google Shape;584;p66"/>
          <p:cNvCxnSpPr/>
          <p:nvPr/>
        </p:nvCxnSpPr>
        <p:spPr>
          <a:xfrm>
            <a:off x="3432116" y="3239150"/>
            <a:ext cx="2399100" cy="0"/>
          </a:xfrm>
          <a:prstGeom prst="straightConnector1">
            <a:avLst/>
          </a:prstGeom>
          <a:noFill/>
          <a:ln cap="flat" cmpd="sng" w="9525">
            <a:solidFill>
              <a:schemeClr val="dk2"/>
            </a:solidFill>
            <a:prstDash val="solid"/>
            <a:round/>
            <a:headEnd len="med" w="med" type="none"/>
            <a:tailEnd len="med" w="med" type="none"/>
          </a:ln>
        </p:spPr>
      </p:cxnSp>
      <p:cxnSp>
        <p:nvCxnSpPr>
          <p:cNvPr id="585" name="Google Shape;585;p66"/>
          <p:cNvCxnSpPr/>
          <p:nvPr/>
        </p:nvCxnSpPr>
        <p:spPr>
          <a:xfrm>
            <a:off x="3434777" y="4049450"/>
            <a:ext cx="2399100" cy="0"/>
          </a:xfrm>
          <a:prstGeom prst="straightConnector1">
            <a:avLst/>
          </a:prstGeom>
          <a:noFill/>
          <a:ln cap="flat" cmpd="sng" w="9525">
            <a:solidFill>
              <a:schemeClr val="dk2"/>
            </a:solidFill>
            <a:prstDash val="solid"/>
            <a:round/>
            <a:headEnd len="med" w="med" type="none"/>
            <a:tailEnd len="med" w="med" type="none"/>
          </a:ln>
        </p:spPr>
      </p:cxnSp>
      <p:sp>
        <p:nvSpPr>
          <p:cNvPr id="586" name="Google Shape;586;p66"/>
          <p:cNvSpPr txBox="1"/>
          <p:nvPr/>
        </p:nvSpPr>
        <p:spPr>
          <a:xfrm>
            <a:off x="3471479" y="4076950"/>
            <a:ext cx="15063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Next Steps</a:t>
            </a:r>
            <a:r>
              <a:rPr lang="en" sz="1200">
                <a:solidFill>
                  <a:schemeClr val="dk1"/>
                </a:solidFill>
                <a:latin typeface="Arimo"/>
                <a:ea typeface="Arimo"/>
                <a:cs typeface="Arimo"/>
                <a:sym typeface="Arimo"/>
              </a:rPr>
              <a:t>:</a:t>
            </a:r>
            <a:endParaRPr i="1" sz="1200">
              <a:solidFill>
                <a:schemeClr val="dk1"/>
              </a:solidFill>
              <a:latin typeface="Arimo"/>
              <a:ea typeface="Arimo"/>
              <a:cs typeface="Arimo"/>
              <a:sym typeface="Arimo"/>
            </a:endParaRPr>
          </a:p>
        </p:txBody>
      </p:sp>
      <p:sp>
        <p:nvSpPr>
          <p:cNvPr id="587" name="Google Shape;587;p66"/>
          <p:cNvSpPr txBox="1"/>
          <p:nvPr/>
        </p:nvSpPr>
        <p:spPr>
          <a:xfrm>
            <a:off x="3304275" y="4182450"/>
            <a:ext cx="2470500" cy="6852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Embed fast, in-process keyword search functions to grab candidate facts and eliminate network lag; fold retrieved snippets straight into the prompt.</a:t>
            </a:r>
            <a:endParaRPr sz="800">
              <a:solidFill>
                <a:schemeClr val="dk1"/>
              </a:solidFill>
              <a:latin typeface="Arimo"/>
              <a:ea typeface="Arimo"/>
              <a:cs typeface="Arimo"/>
              <a:sym typeface="Arimo"/>
            </a:endParaRPr>
          </a:p>
        </p:txBody>
      </p:sp>
      <p:pic>
        <p:nvPicPr>
          <p:cNvPr id="588" name="Google Shape;588;p66"/>
          <p:cNvPicPr preferRelativeResize="0"/>
          <p:nvPr/>
        </p:nvPicPr>
        <p:blipFill rotWithShape="1">
          <a:blip r:embed="rId3">
            <a:alphaModFix/>
          </a:blip>
          <a:srcRect b="0" l="27373" r="49201" t="0"/>
          <a:stretch/>
        </p:blipFill>
        <p:spPr>
          <a:xfrm>
            <a:off x="6384550" y="1015350"/>
            <a:ext cx="2427000" cy="3815700"/>
          </a:xfrm>
          <a:prstGeom prst="roundRect">
            <a:avLst>
              <a:gd fmla="val 9632" name="adj"/>
            </a:avLst>
          </a:prstGeom>
          <a:noFill/>
          <a:ln>
            <a:noFill/>
          </a:ln>
        </p:spPr>
      </p:pic>
      <p:sp>
        <p:nvSpPr>
          <p:cNvPr id="589" name="Google Shape;589;p66"/>
          <p:cNvSpPr txBox="1"/>
          <p:nvPr/>
        </p:nvSpPr>
        <p:spPr>
          <a:xfrm>
            <a:off x="6885539" y="1018653"/>
            <a:ext cx="1425000" cy="356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700">
                <a:solidFill>
                  <a:schemeClr val="dk1"/>
                </a:solidFill>
                <a:latin typeface="Arimo"/>
                <a:ea typeface="Arimo"/>
                <a:cs typeface="Arimo"/>
                <a:sym typeface="Arimo"/>
              </a:rPr>
              <a:t>Final</a:t>
            </a:r>
            <a:r>
              <a:rPr b="1" lang="en" sz="1700">
                <a:solidFill>
                  <a:schemeClr val="dk1"/>
                </a:solidFill>
                <a:latin typeface="Arimo"/>
                <a:ea typeface="Arimo"/>
                <a:cs typeface="Arimo"/>
                <a:sym typeface="Arimo"/>
              </a:rPr>
              <a:t> Phase</a:t>
            </a:r>
            <a:endParaRPr b="1" sz="1200">
              <a:solidFill>
                <a:schemeClr val="dk1"/>
              </a:solidFill>
              <a:latin typeface="Arimo"/>
              <a:ea typeface="Arimo"/>
              <a:cs typeface="Arimo"/>
              <a:sym typeface="Arimo"/>
            </a:endParaRPr>
          </a:p>
        </p:txBody>
      </p:sp>
      <p:sp>
        <p:nvSpPr>
          <p:cNvPr id="590" name="Google Shape;590;p66"/>
          <p:cNvSpPr txBox="1"/>
          <p:nvPr/>
        </p:nvSpPr>
        <p:spPr>
          <a:xfrm>
            <a:off x="6316751" y="1320250"/>
            <a:ext cx="2562600" cy="35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a:solidFill>
                  <a:schemeClr val="dk1"/>
                </a:solidFill>
                <a:latin typeface="Arimo"/>
                <a:ea typeface="Arimo"/>
                <a:cs typeface="Arimo"/>
                <a:sym typeface="Arimo"/>
              </a:rPr>
              <a:t>Search-Augmented Phi-1.5 (Current)</a:t>
            </a:r>
            <a:endParaRPr i="1" sz="1200">
              <a:solidFill>
                <a:schemeClr val="dk1"/>
              </a:solidFill>
              <a:latin typeface="Arimo"/>
              <a:ea typeface="Arimo"/>
              <a:cs typeface="Arimo"/>
              <a:sym typeface="Arimo"/>
            </a:endParaRPr>
          </a:p>
        </p:txBody>
      </p:sp>
      <p:sp>
        <p:nvSpPr>
          <p:cNvPr id="591" name="Google Shape;591;p66"/>
          <p:cNvSpPr txBox="1"/>
          <p:nvPr/>
        </p:nvSpPr>
        <p:spPr>
          <a:xfrm>
            <a:off x="6403916" y="1753950"/>
            <a:ext cx="8790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Models</a:t>
            </a:r>
            <a:endParaRPr b="1" i="1" sz="1200">
              <a:solidFill>
                <a:schemeClr val="dk1"/>
              </a:solidFill>
              <a:latin typeface="Arimo"/>
              <a:ea typeface="Arimo"/>
              <a:cs typeface="Arimo"/>
              <a:sym typeface="Arimo"/>
            </a:endParaRPr>
          </a:p>
        </p:txBody>
      </p:sp>
      <p:cxnSp>
        <p:nvCxnSpPr>
          <p:cNvPr id="592" name="Google Shape;592;p66"/>
          <p:cNvCxnSpPr/>
          <p:nvPr/>
        </p:nvCxnSpPr>
        <p:spPr>
          <a:xfrm>
            <a:off x="6403916" y="1715150"/>
            <a:ext cx="2399100" cy="0"/>
          </a:xfrm>
          <a:prstGeom prst="straightConnector1">
            <a:avLst/>
          </a:prstGeom>
          <a:noFill/>
          <a:ln cap="flat" cmpd="sng" w="9525">
            <a:solidFill>
              <a:schemeClr val="dk2"/>
            </a:solidFill>
            <a:prstDash val="solid"/>
            <a:round/>
            <a:headEnd len="med" w="med" type="none"/>
            <a:tailEnd len="med" w="med" type="none"/>
          </a:ln>
        </p:spPr>
      </p:cxnSp>
      <p:sp>
        <p:nvSpPr>
          <p:cNvPr id="593" name="Google Shape;593;p66"/>
          <p:cNvSpPr txBox="1"/>
          <p:nvPr/>
        </p:nvSpPr>
        <p:spPr>
          <a:xfrm>
            <a:off x="6290750" y="1898700"/>
            <a:ext cx="2520900" cy="3561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b="1" lang="en" sz="800" u="sng">
                <a:solidFill>
                  <a:schemeClr val="dk1"/>
                </a:solidFill>
                <a:latin typeface="Arimo"/>
                <a:ea typeface="Arimo"/>
                <a:cs typeface="Arimo"/>
                <a:sym typeface="Arimo"/>
              </a:rPr>
              <a:t>Microsoft Phi-1.5</a:t>
            </a:r>
            <a:r>
              <a:rPr lang="en" sz="800">
                <a:solidFill>
                  <a:schemeClr val="dk1"/>
                </a:solidFill>
                <a:latin typeface="Arimo"/>
                <a:ea typeface="Arimo"/>
                <a:cs typeface="Arimo"/>
                <a:sym typeface="Arimo"/>
              </a:rPr>
              <a:t> + in-process keyword search </a:t>
            </a:r>
            <a:r>
              <a:rPr lang="en" sz="800">
                <a:solidFill>
                  <a:schemeClr val="dk1"/>
                </a:solidFill>
                <a:latin typeface="Arimo"/>
                <a:ea typeface="Arimo"/>
                <a:cs typeface="Arimo"/>
                <a:sym typeface="Arimo"/>
              </a:rPr>
              <a:t>functions</a:t>
            </a:r>
            <a:endParaRPr sz="800">
              <a:solidFill>
                <a:schemeClr val="dk1"/>
              </a:solidFill>
              <a:latin typeface="Arimo"/>
              <a:ea typeface="Arimo"/>
              <a:cs typeface="Arimo"/>
              <a:sym typeface="Arimo"/>
            </a:endParaRPr>
          </a:p>
        </p:txBody>
      </p:sp>
      <p:sp>
        <p:nvSpPr>
          <p:cNvPr id="594" name="Google Shape;594;p66"/>
          <p:cNvSpPr txBox="1"/>
          <p:nvPr/>
        </p:nvSpPr>
        <p:spPr>
          <a:xfrm>
            <a:off x="6443279" y="2262550"/>
            <a:ext cx="12327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Advantages</a:t>
            </a:r>
            <a:endParaRPr b="1" i="1" sz="1200">
              <a:solidFill>
                <a:schemeClr val="dk1"/>
              </a:solidFill>
              <a:latin typeface="Arimo"/>
              <a:ea typeface="Arimo"/>
              <a:cs typeface="Arimo"/>
              <a:sym typeface="Arimo"/>
            </a:endParaRPr>
          </a:p>
        </p:txBody>
      </p:sp>
      <p:sp>
        <p:nvSpPr>
          <p:cNvPr id="595" name="Google Shape;595;p66"/>
          <p:cNvSpPr txBox="1"/>
          <p:nvPr/>
        </p:nvSpPr>
        <p:spPr>
          <a:xfrm>
            <a:off x="6277350" y="2490850"/>
            <a:ext cx="2427000" cy="6852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b="1" lang="en" sz="800">
                <a:solidFill>
                  <a:schemeClr val="dk1"/>
                </a:solidFill>
                <a:latin typeface="Arimo"/>
                <a:ea typeface="Arimo"/>
                <a:cs typeface="Arimo"/>
                <a:sym typeface="Arimo"/>
              </a:rPr>
              <a:t>≈ 20 s</a:t>
            </a:r>
            <a:r>
              <a:rPr lang="en" sz="800">
                <a:solidFill>
                  <a:schemeClr val="dk1"/>
                </a:solidFill>
                <a:latin typeface="Arimo"/>
                <a:ea typeface="Arimo"/>
                <a:cs typeface="Arimo"/>
                <a:sym typeface="Arimo"/>
              </a:rPr>
              <a:t> end-to-end thanks to regex-first extraction, strict 20 s summary timeout and 4-/8-bit quantisation.</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Runs on laptop CPU / </a:t>
            </a:r>
            <a:r>
              <a:rPr lang="en" sz="800">
                <a:solidFill>
                  <a:schemeClr val="dk1"/>
                </a:solidFill>
                <a:latin typeface="Arimo"/>
                <a:ea typeface="Arimo"/>
                <a:cs typeface="Arimo"/>
                <a:sym typeface="Arimo"/>
              </a:rPr>
              <a:t>4GB</a:t>
            </a:r>
            <a:r>
              <a:rPr lang="en" sz="800">
                <a:solidFill>
                  <a:schemeClr val="dk1"/>
                </a:solidFill>
                <a:latin typeface="Arimo"/>
                <a:ea typeface="Arimo"/>
                <a:cs typeface="Arimo"/>
                <a:sym typeface="Arimo"/>
              </a:rPr>
              <a:t> GPU in </a:t>
            </a:r>
            <a:r>
              <a:rPr lang="en" sz="800">
                <a:solidFill>
                  <a:schemeClr val="dk1"/>
                </a:solidFill>
                <a:latin typeface="Arimo"/>
                <a:ea typeface="Arimo"/>
                <a:cs typeface="Arimo"/>
                <a:sym typeface="Arimo"/>
              </a:rPr>
              <a:t>harmony</a:t>
            </a:r>
            <a:r>
              <a:rPr lang="en" sz="800">
                <a:solidFill>
                  <a:schemeClr val="dk1"/>
                </a:solidFill>
                <a:latin typeface="Arimo"/>
                <a:ea typeface="Arimo"/>
                <a:cs typeface="Arimo"/>
                <a:sym typeface="Arimo"/>
              </a:rPr>
              <a:t> with the web app and the others models</a:t>
            </a:r>
            <a:endParaRPr sz="800">
              <a:solidFill>
                <a:schemeClr val="dk1"/>
              </a:solidFill>
              <a:latin typeface="Arimo"/>
              <a:ea typeface="Arimo"/>
              <a:cs typeface="Arimo"/>
              <a:sym typeface="Arimo"/>
            </a:endParaRPr>
          </a:p>
        </p:txBody>
      </p:sp>
      <p:sp>
        <p:nvSpPr>
          <p:cNvPr id="596" name="Google Shape;596;p66"/>
          <p:cNvSpPr txBox="1"/>
          <p:nvPr/>
        </p:nvSpPr>
        <p:spPr>
          <a:xfrm>
            <a:off x="6443279" y="3216600"/>
            <a:ext cx="15063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Disadvantages</a:t>
            </a:r>
            <a:endParaRPr b="1" i="1" sz="1200">
              <a:solidFill>
                <a:schemeClr val="dk1"/>
              </a:solidFill>
              <a:latin typeface="Arimo"/>
              <a:ea typeface="Arimo"/>
              <a:cs typeface="Arimo"/>
              <a:sym typeface="Arimo"/>
            </a:endParaRPr>
          </a:p>
        </p:txBody>
      </p:sp>
      <p:sp>
        <p:nvSpPr>
          <p:cNvPr id="597" name="Google Shape;597;p66"/>
          <p:cNvSpPr txBox="1"/>
          <p:nvPr/>
        </p:nvSpPr>
        <p:spPr>
          <a:xfrm>
            <a:off x="6290750" y="3418350"/>
            <a:ext cx="2520900" cy="6036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Summary prompt must be extremely precise</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Narrative less rich and creative than advanced models</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100–150-word limit and template fallback</a:t>
            </a:r>
            <a:endParaRPr sz="800">
              <a:solidFill>
                <a:schemeClr val="dk1"/>
              </a:solidFill>
              <a:latin typeface="Arimo"/>
              <a:ea typeface="Arimo"/>
              <a:cs typeface="Arimo"/>
              <a:sym typeface="Arimo"/>
            </a:endParaRPr>
          </a:p>
        </p:txBody>
      </p:sp>
      <p:cxnSp>
        <p:nvCxnSpPr>
          <p:cNvPr id="598" name="Google Shape;598;p66"/>
          <p:cNvCxnSpPr/>
          <p:nvPr/>
        </p:nvCxnSpPr>
        <p:spPr>
          <a:xfrm>
            <a:off x="6403916" y="2248550"/>
            <a:ext cx="2399100" cy="0"/>
          </a:xfrm>
          <a:prstGeom prst="straightConnector1">
            <a:avLst/>
          </a:prstGeom>
          <a:noFill/>
          <a:ln cap="flat" cmpd="sng" w="9525">
            <a:solidFill>
              <a:schemeClr val="dk2"/>
            </a:solidFill>
            <a:prstDash val="solid"/>
            <a:round/>
            <a:headEnd len="med" w="med" type="none"/>
            <a:tailEnd len="med" w="med" type="none"/>
          </a:ln>
        </p:spPr>
      </p:cxnSp>
      <p:cxnSp>
        <p:nvCxnSpPr>
          <p:cNvPr id="599" name="Google Shape;599;p66"/>
          <p:cNvCxnSpPr/>
          <p:nvPr/>
        </p:nvCxnSpPr>
        <p:spPr>
          <a:xfrm>
            <a:off x="6403916" y="3239150"/>
            <a:ext cx="2399100" cy="0"/>
          </a:xfrm>
          <a:prstGeom prst="straightConnector1">
            <a:avLst/>
          </a:prstGeom>
          <a:noFill/>
          <a:ln cap="flat" cmpd="sng" w="9525">
            <a:solidFill>
              <a:schemeClr val="dk2"/>
            </a:solidFill>
            <a:prstDash val="solid"/>
            <a:round/>
            <a:headEnd len="med" w="med" type="none"/>
            <a:tailEnd len="med" w="med" type="none"/>
          </a:ln>
        </p:spPr>
      </p:cxnSp>
      <p:cxnSp>
        <p:nvCxnSpPr>
          <p:cNvPr id="600" name="Google Shape;600;p66"/>
          <p:cNvCxnSpPr/>
          <p:nvPr/>
        </p:nvCxnSpPr>
        <p:spPr>
          <a:xfrm>
            <a:off x="6406577" y="4049450"/>
            <a:ext cx="2399100" cy="0"/>
          </a:xfrm>
          <a:prstGeom prst="straightConnector1">
            <a:avLst/>
          </a:prstGeom>
          <a:noFill/>
          <a:ln cap="flat" cmpd="sng" w="9525">
            <a:solidFill>
              <a:schemeClr val="dk2"/>
            </a:solidFill>
            <a:prstDash val="solid"/>
            <a:round/>
            <a:headEnd len="med" w="med" type="none"/>
            <a:tailEnd len="med" w="med" type="none"/>
          </a:ln>
        </p:spPr>
      </p:cxnSp>
      <p:sp>
        <p:nvSpPr>
          <p:cNvPr id="601" name="Google Shape;601;p66"/>
          <p:cNvSpPr txBox="1"/>
          <p:nvPr/>
        </p:nvSpPr>
        <p:spPr>
          <a:xfrm>
            <a:off x="6443279" y="4049450"/>
            <a:ext cx="15063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200">
                <a:solidFill>
                  <a:schemeClr val="dk1"/>
                </a:solidFill>
                <a:latin typeface="Arimo"/>
                <a:ea typeface="Arimo"/>
                <a:cs typeface="Arimo"/>
                <a:sym typeface="Arimo"/>
              </a:rPr>
              <a:t>Next Steps</a:t>
            </a:r>
            <a:r>
              <a:rPr lang="en" sz="1200">
                <a:solidFill>
                  <a:schemeClr val="dk1"/>
                </a:solidFill>
                <a:latin typeface="Arimo"/>
                <a:ea typeface="Arimo"/>
                <a:cs typeface="Arimo"/>
                <a:sym typeface="Arimo"/>
              </a:rPr>
              <a:t>:</a:t>
            </a:r>
            <a:endParaRPr i="1" sz="1200">
              <a:solidFill>
                <a:schemeClr val="dk1"/>
              </a:solidFill>
              <a:latin typeface="Arimo"/>
              <a:ea typeface="Arimo"/>
              <a:cs typeface="Arimo"/>
              <a:sym typeface="Arimo"/>
            </a:endParaRPr>
          </a:p>
        </p:txBody>
      </p:sp>
      <p:sp>
        <p:nvSpPr>
          <p:cNvPr id="602" name="Google Shape;602;p66"/>
          <p:cNvSpPr txBox="1"/>
          <p:nvPr/>
        </p:nvSpPr>
        <p:spPr>
          <a:xfrm>
            <a:off x="6276075" y="4182450"/>
            <a:ext cx="2470500" cy="685200"/>
          </a:xfrm>
          <a:prstGeom prst="rect">
            <a:avLst/>
          </a:prstGeom>
          <a:noFill/>
          <a:ln>
            <a:noFill/>
          </a:ln>
        </p:spPr>
        <p:txBody>
          <a:bodyPr anchorCtr="0" anchor="ctr" bIns="91425" lIns="91425" spcFirstLastPara="1" rIns="91425" wrap="square" tIns="91425">
            <a:noAutofit/>
          </a:bodyPr>
          <a:lstStyle/>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Boost narrative quality without hurting speed.</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Fine-tuning or In-Context Learning</a:t>
            </a:r>
            <a:endParaRPr sz="800">
              <a:solidFill>
                <a:schemeClr val="dk1"/>
              </a:solidFill>
              <a:latin typeface="Arimo"/>
              <a:ea typeface="Arimo"/>
              <a:cs typeface="Arimo"/>
              <a:sym typeface="Arimo"/>
            </a:endParaRPr>
          </a:p>
          <a:p>
            <a:pPr indent="-279400" lvl="0" marL="457200" rtl="0" algn="l">
              <a:spcBef>
                <a:spcPts val="0"/>
              </a:spcBef>
              <a:spcAft>
                <a:spcPts val="0"/>
              </a:spcAft>
              <a:buClr>
                <a:schemeClr val="dk1"/>
              </a:buClr>
              <a:buSzPts val="800"/>
              <a:buFont typeface="Arimo"/>
              <a:buChar char="●"/>
            </a:pPr>
            <a:r>
              <a:rPr lang="en" sz="800">
                <a:solidFill>
                  <a:schemeClr val="dk1"/>
                </a:solidFill>
                <a:latin typeface="Arimo"/>
                <a:ea typeface="Arimo"/>
                <a:cs typeface="Arimo"/>
                <a:sym typeface="Arimo"/>
              </a:rPr>
              <a:t>Use advanced models and send notification via app when report is ready</a:t>
            </a:r>
            <a:endParaRPr sz="800">
              <a:solidFill>
                <a:schemeClr val="dk1"/>
              </a:solidFill>
              <a:latin typeface="Arimo"/>
              <a:ea typeface="Arimo"/>
              <a:cs typeface="Arimo"/>
              <a:sym typeface="Arimo"/>
            </a:endParaRPr>
          </a:p>
        </p:txBody>
      </p:sp>
      <p:sp>
        <p:nvSpPr>
          <p:cNvPr id="603" name="Google Shape;603;p66"/>
          <p:cNvSpPr/>
          <p:nvPr/>
        </p:nvSpPr>
        <p:spPr>
          <a:xfrm>
            <a:off x="2937250" y="2678075"/>
            <a:ext cx="418800" cy="179400"/>
          </a:xfrm>
          <a:prstGeom prst="rightArrow">
            <a:avLst>
              <a:gd fmla="val 50000" name="adj1"/>
              <a:gd fmla="val 50000" name="adj2"/>
            </a:avLst>
          </a:prstGeom>
          <a:gradFill>
            <a:gsLst>
              <a:gs pos="0">
                <a:srgbClr val="FFCDA9"/>
              </a:gs>
              <a:gs pos="100000">
                <a:srgbClr val="F9832D"/>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604" name="Google Shape;604;p66"/>
          <p:cNvSpPr/>
          <p:nvPr/>
        </p:nvSpPr>
        <p:spPr>
          <a:xfrm>
            <a:off x="5896450" y="2678075"/>
            <a:ext cx="418800" cy="179400"/>
          </a:xfrm>
          <a:prstGeom prst="rightArrow">
            <a:avLst>
              <a:gd fmla="val 50000" name="adj1"/>
              <a:gd fmla="val 50000" name="adj2"/>
            </a:avLst>
          </a:prstGeom>
          <a:gradFill>
            <a:gsLst>
              <a:gs pos="0">
                <a:srgbClr val="FFCDA9"/>
              </a:gs>
              <a:gs pos="100000">
                <a:srgbClr val="F9832D"/>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7"/>
          <p:cNvSpPr/>
          <p:nvPr/>
        </p:nvSpPr>
        <p:spPr>
          <a:xfrm>
            <a:off x="5808900" y="1299225"/>
            <a:ext cx="3057600" cy="1056300"/>
          </a:xfrm>
          <a:prstGeom prst="roundRect">
            <a:avLst>
              <a:gd fmla="val 14571" name="adj"/>
            </a:avLst>
          </a:prstGeom>
          <a:solidFill>
            <a:schemeClr val="lt2"/>
          </a:solidFill>
          <a:ln>
            <a:noFill/>
          </a:ln>
        </p:spPr>
        <p:txBody>
          <a:bodyPr anchorCtr="0" anchor="ctr" bIns="91425" lIns="182875" spcFirstLastPara="1" rIns="182875" wrap="square" tIns="91425">
            <a:noAutofit/>
          </a:bodyPr>
          <a:lstStyle/>
          <a:p>
            <a:pPr indent="0" lvl="0" marL="0" rtl="0" algn="l">
              <a:lnSpc>
                <a:spcPct val="115000"/>
              </a:lnSpc>
              <a:spcBef>
                <a:spcPts val="0"/>
              </a:spcBef>
              <a:spcAft>
                <a:spcPts val="0"/>
              </a:spcAft>
              <a:buNone/>
            </a:pPr>
            <a:r>
              <a:t/>
            </a:r>
            <a:endParaRPr>
              <a:solidFill>
                <a:schemeClr val="lt1"/>
              </a:solidFill>
              <a:latin typeface="Arimo"/>
              <a:ea typeface="Arimo"/>
              <a:cs typeface="Arimo"/>
              <a:sym typeface="Arimo"/>
            </a:endParaRPr>
          </a:p>
        </p:txBody>
      </p:sp>
      <p:sp>
        <p:nvSpPr>
          <p:cNvPr id="610" name="Google Shape;610;p67"/>
          <p:cNvSpPr/>
          <p:nvPr/>
        </p:nvSpPr>
        <p:spPr>
          <a:xfrm>
            <a:off x="4644850" y="2471025"/>
            <a:ext cx="3057600" cy="1056300"/>
          </a:xfrm>
          <a:prstGeom prst="roundRect">
            <a:avLst>
              <a:gd fmla="val 14571" name="adj"/>
            </a:avLst>
          </a:prstGeom>
          <a:solidFill>
            <a:schemeClr val="lt2"/>
          </a:solidFill>
          <a:ln>
            <a:noFill/>
          </a:ln>
        </p:spPr>
        <p:txBody>
          <a:bodyPr anchorCtr="0" anchor="ctr" bIns="91425" lIns="182875" spcFirstLastPara="1" rIns="182875" wrap="square" tIns="91425">
            <a:noAutofit/>
          </a:bodyPr>
          <a:lstStyle/>
          <a:p>
            <a:pPr indent="0" lvl="0" marL="0" rtl="0" algn="l">
              <a:lnSpc>
                <a:spcPct val="115000"/>
              </a:lnSpc>
              <a:spcBef>
                <a:spcPts val="0"/>
              </a:spcBef>
              <a:spcAft>
                <a:spcPts val="0"/>
              </a:spcAft>
              <a:buNone/>
            </a:pPr>
            <a:r>
              <a:t/>
            </a:r>
            <a:endParaRPr>
              <a:solidFill>
                <a:schemeClr val="lt1"/>
              </a:solidFill>
              <a:latin typeface="Arimo"/>
              <a:ea typeface="Arimo"/>
              <a:cs typeface="Arimo"/>
              <a:sym typeface="Arimo"/>
            </a:endParaRPr>
          </a:p>
        </p:txBody>
      </p:sp>
      <p:sp>
        <p:nvSpPr>
          <p:cNvPr id="611" name="Google Shape;611;p67"/>
          <p:cNvSpPr/>
          <p:nvPr/>
        </p:nvSpPr>
        <p:spPr>
          <a:xfrm>
            <a:off x="5808900" y="3642825"/>
            <a:ext cx="3057600" cy="1056300"/>
          </a:xfrm>
          <a:prstGeom prst="roundRect">
            <a:avLst>
              <a:gd fmla="val 14571" name="adj"/>
            </a:avLst>
          </a:prstGeom>
          <a:solidFill>
            <a:schemeClr val="lt2"/>
          </a:solidFill>
          <a:ln>
            <a:noFill/>
          </a:ln>
        </p:spPr>
        <p:txBody>
          <a:bodyPr anchorCtr="0" anchor="ctr" bIns="91425" lIns="182875" spcFirstLastPara="1" rIns="182875" wrap="square" tIns="91425">
            <a:noAutofit/>
          </a:bodyPr>
          <a:lstStyle/>
          <a:p>
            <a:pPr indent="0" lvl="0" marL="0" rtl="0" algn="l">
              <a:lnSpc>
                <a:spcPct val="115000"/>
              </a:lnSpc>
              <a:spcBef>
                <a:spcPts val="0"/>
              </a:spcBef>
              <a:spcAft>
                <a:spcPts val="0"/>
              </a:spcAft>
              <a:buNone/>
            </a:pPr>
            <a:r>
              <a:t/>
            </a:r>
            <a:endParaRPr>
              <a:solidFill>
                <a:schemeClr val="lt1"/>
              </a:solidFill>
              <a:latin typeface="Arimo"/>
              <a:ea typeface="Arimo"/>
              <a:cs typeface="Arimo"/>
              <a:sym typeface="Arimo"/>
            </a:endParaRPr>
          </a:p>
        </p:txBody>
      </p:sp>
      <p:sp>
        <p:nvSpPr>
          <p:cNvPr id="612" name="Google Shape;612;p67"/>
          <p:cNvSpPr txBox="1"/>
          <p:nvPr>
            <p:ph type="title"/>
          </p:nvPr>
        </p:nvSpPr>
        <p:spPr>
          <a:xfrm>
            <a:off x="277500" y="277500"/>
            <a:ext cx="8589000" cy="626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3600">
                <a:latin typeface="Times New Roman"/>
                <a:ea typeface="Times New Roman"/>
                <a:cs typeface="Times New Roman"/>
                <a:sym typeface="Times New Roman"/>
              </a:rPr>
              <a:t>Website architecture</a:t>
            </a:r>
            <a:endParaRPr/>
          </a:p>
        </p:txBody>
      </p:sp>
      <p:sp>
        <p:nvSpPr>
          <p:cNvPr id="613" name="Google Shape;613;p67"/>
          <p:cNvSpPr txBox="1"/>
          <p:nvPr>
            <p:ph idx="4294967295" type="title"/>
          </p:nvPr>
        </p:nvSpPr>
        <p:spPr>
          <a:xfrm>
            <a:off x="6013900" y="1416850"/>
            <a:ext cx="2477400" cy="2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500"/>
              <a:t>Step one</a:t>
            </a:r>
            <a:endParaRPr sz="1500"/>
          </a:p>
        </p:txBody>
      </p:sp>
      <p:sp>
        <p:nvSpPr>
          <p:cNvPr id="614" name="Google Shape;614;p67"/>
          <p:cNvSpPr txBox="1"/>
          <p:nvPr>
            <p:ph idx="4294967295" type="title"/>
          </p:nvPr>
        </p:nvSpPr>
        <p:spPr>
          <a:xfrm>
            <a:off x="6013900" y="1675750"/>
            <a:ext cx="28326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000"/>
              <a:t>Secure user integration using hashed passwords in order to create a personalized home page. Passwords have to satisfy a series of security conditions to be validated.</a:t>
            </a:r>
            <a:endParaRPr sz="1000"/>
          </a:p>
        </p:txBody>
      </p:sp>
      <p:sp>
        <p:nvSpPr>
          <p:cNvPr id="615" name="Google Shape;615;p67"/>
          <p:cNvSpPr txBox="1"/>
          <p:nvPr>
            <p:ph idx="4294967295" type="title"/>
          </p:nvPr>
        </p:nvSpPr>
        <p:spPr>
          <a:xfrm>
            <a:off x="4869750" y="2571087"/>
            <a:ext cx="24774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Step two</a:t>
            </a:r>
            <a:endParaRPr sz="1400"/>
          </a:p>
        </p:txBody>
      </p:sp>
      <p:sp>
        <p:nvSpPr>
          <p:cNvPr id="616" name="Google Shape;616;p67"/>
          <p:cNvSpPr txBox="1"/>
          <p:nvPr>
            <p:ph idx="4294967295" type="title"/>
          </p:nvPr>
        </p:nvSpPr>
        <p:spPr>
          <a:xfrm>
            <a:off x="4869750" y="2901988"/>
            <a:ext cx="28326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000"/>
              <a:t>Access your own personal home page. In there you will be able to access, modify and delete your reports. These will be ordered by </a:t>
            </a:r>
            <a:endParaRPr sz="1000"/>
          </a:p>
        </p:txBody>
      </p:sp>
      <p:sp>
        <p:nvSpPr>
          <p:cNvPr id="617" name="Google Shape;617;p67"/>
          <p:cNvSpPr txBox="1"/>
          <p:nvPr>
            <p:ph idx="4294967295" type="title"/>
          </p:nvPr>
        </p:nvSpPr>
        <p:spPr>
          <a:xfrm>
            <a:off x="6013900" y="3729837"/>
            <a:ext cx="24774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Step three</a:t>
            </a:r>
            <a:endParaRPr sz="1400"/>
          </a:p>
        </p:txBody>
      </p:sp>
      <p:sp>
        <p:nvSpPr>
          <p:cNvPr id="618" name="Google Shape;618;p67"/>
          <p:cNvSpPr txBox="1"/>
          <p:nvPr>
            <p:ph idx="4294967295" type="title"/>
          </p:nvPr>
        </p:nvSpPr>
        <p:spPr>
          <a:xfrm>
            <a:off x="6013900" y="3989624"/>
            <a:ext cx="2832600" cy="692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000"/>
              <a:t>Go into video, press ‘Start Recording’ and begin your interview!</a:t>
            </a:r>
            <a:endParaRPr sz="1000"/>
          </a:p>
          <a:p>
            <a:pPr indent="0" lvl="0" marL="0" rtl="0" algn="l">
              <a:spcBef>
                <a:spcPts val="0"/>
              </a:spcBef>
              <a:spcAft>
                <a:spcPts val="0"/>
              </a:spcAft>
              <a:buNone/>
            </a:pPr>
            <a:r>
              <a:rPr lang="en" sz="1000"/>
              <a:t>Once you are done, press ‘Stop Recording’ and wait a couple of seconds for your automatic report to be generated </a:t>
            </a:r>
            <a:endParaRPr sz="1000"/>
          </a:p>
        </p:txBody>
      </p:sp>
      <p:sp>
        <p:nvSpPr>
          <p:cNvPr id="619" name="Google Shape;619;p67"/>
          <p:cNvSpPr/>
          <p:nvPr/>
        </p:nvSpPr>
        <p:spPr>
          <a:xfrm>
            <a:off x="8491434" y="1375417"/>
            <a:ext cx="298800" cy="298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1"/>
              </a:solidFill>
              <a:latin typeface="Arimo"/>
              <a:ea typeface="Arimo"/>
              <a:cs typeface="Arimo"/>
              <a:sym typeface="Arimo"/>
            </a:endParaRPr>
          </a:p>
        </p:txBody>
      </p:sp>
      <p:sp>
        <p:nvSpPr>
          <p:cNvPr id="620" name="Google Shape;620;p67"/>
          <p:cNvSpPr/>
          <p:nvPr/>
        </p:nvSpPr>
        <p:spPr>
          <a:xfrm>
            <a:off x="8517489" y="1401473"/>
            <a:ext cx="246600" cy="2466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dk1"/>
                </a:solidFill>
                <a:latin typeface="Arimo"/>
                <a:ea typeface="Arimo"/>
                <a:cs typeface="Arimo"/>
                <a:sym typeface="Arimo"/>
              </a:rPr>
              <a:t>1</a:t>
            </a:r>
            <a:endParaRPr sz="1100">
              <a:solidFill>
                <a:schemeClr val="dk1"/>
              </a:solidFill>
              <a:latin typeface="Arimo"/>
              <a:ea typeface="Arimo"/>
              <a:cs typeface="Arimo"/>
              <a:sym typeface="Arimo"/>
            </a:endParaRPr>
          </a:p>
        </p:txBody>
      </p:sp>
      <p:sp>
        <p:nvSpPr>
          <p:cNvPr id="621" name="Google Shape;621;p67"/>
          <p:cNvSpPr/>
          <p:nvPr/>
        </p:nvSpPr>
        <p:spPr>
          <a:xfrm>
            <a:off x="7327384" y="2547217"/>
            <a:ext cx="298800" cy="298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1"/>
              </a:solidFill>
              <a:latin typeface="Arimo"/>
              <a:ea typeface="Arimo"/>
              <a:cs typeface="Arimo"/>
              <a:sym typeface="Arimo"/>
            </a:endParaRPr>
          </a:p>
        </p:txBody>
      </p:sp>
      <p:sp>
        <p:nvSpPr>
          <p:cNvPr id="622" name="Google Shape;622;p67"/>
          <p:cNvSpPr/>
          <p:nvPr/>
        </p:nvSpPr>
        <p:spPr>
          <a:xfrm>
            <a:off x="7353439" y="2573273"/>
            <a:ext cx="246600" cy="2466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dk1"/>
                </a:solidFill>
                <a:latin typeface="Arimo"/>
                <a:ea typeface="Arimo"/>
                <a:cs typeface="Arimo"/>
                <a:sym typeface="Arimo"/>
              </a:rPr>
              <a:t>2</a:t>
            </a:r>
            <a:endParaRPr sz="1100">
              <a:solidFill>
                <a:schemeClr val="dk1"/>
              </a:solidFill>
              <a:latin typeface="Arimo"/>
              <a:ea typeface="Arimo"/>
              <a:cs typeface="Arimo"/>
              <a:sym typeface="Arimo"/>
            </a:endParaRPr>
          </a:p>
        </p:txBody>
      </p:sp>
      <p:sp>
        <p:nvSpPr>
          <p:cNvPr id="623" name="Google Shape;623;p67"/>
          <p:cNvSpPr/>
          <p:nvPr/>
        </p:nvSpPr>
        <p:spPr>
          <a:xfrm>
            <a:off x="8491309" y="3729817"/>
            <a:ext cx="298800" cy="298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624" name="Google Shape;624;p67"/>
          <p:cNvSpPr/>
          <p:nvPr/>
        </p:nvSpPr>
        <p:spPr>
          <a:xfrm>
            <a:off x="8517364" y="3755873"/>
            <a:ext cx="246600" cy="2466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dk1"/>
                </a:solidFill>
                <a:latin typeface="Arimo"/>
                <a:ea typeface="Arimo"/>
                <a:cs typeface="Arimo"/>
                <a:sym typeface="Arimo"/>
              </a:rPr>
              <a:t>3</a:t>
            </a:r>
            <a:endParaRPr sz="1100">
              <a:solidFill>
                <a:schemeClr val="dk1"/>
              </a:solidFill>
              <a:latin typeface="Arimo"/>
              <a:ea typeface="Arimo"/>
              <a:cs typeface="Arimo"/>
              <a:sym typeface="Arimo"/>
            </a:endParaRPr>
          </a:p>
        </p:txBody>
      </p:sp>
      <p:pic>
        <p:nvPicPr>
          <p:cNvPr id="625" name="Google Shape;625;p67"/>
          <p:cNvPicPr preferRelativeResize="0"/>
          <p:nvPr>
            <p:ph idx="3" type="pic"/>
          </p:nvPr>
        </p:nvPicPr>
        <p:blipFill rotWithShape="1">
          <a:blip r:embed="rId3">
            <a:alphaModFix/>
          </a:blip>
          <a:srcRect b="0" l="884" r="874" t="0"/>
          <a:stretch/>
        </p:blipFill>
        <p:spPr>
          <a:xfrm>
            <a:off x="4644850" y="1299225"/>
            <a:ext cx="1037700" cy="1056300"/>
          </a:xfrm>
          <a:prstGeom prst="roundRect">
            <a:avLst>
              <a:gd fmla="val 16667" name="adj"/>
            </a:avLst>
          </a:prstGeom>
        </p:spPr>
      </p:pic>
      <p:pic>
        <p:nvPicPr>
          <p:cNvPr id="626" name="Google Shape;626;p67"/>
          <p:cNvPicPr preferRelativeResize="0"/>
          <p:nvPr>
            <p:ph idx="2" type="pic"/>
          </p:nvPr>
        </p:nvPicPr>
        <p:blipFill rotWithShape="1">
          <a:blip r:embed="rId4">
            <a:alphaModFix/>
          </a:blip>
          <a:srcRect b="0" l="17240" r="17233" t="0"/>
          <a:stretch/>
        </p:blipFill>
        <p:spPr>
          <a:xfrm>
            <a:off x="4644850" y="3642825"/>
            <a:ext cx="1037700" cy="1056300"/>
          </a:xfrm>
          <a:prstGeom prst="roundRect">
            <a:avLst>
              <a:gd fmla="val 16667" name="adj"/>
            </a:avLst>
          </a:prstGeom>
          <a:noFill/>
          <a:ln>
            <a:noFill/>
          </a:ln>
        </p:spPr>
      </p:pic>
      <p:pic>
        <p:nvPicPr>
          <p:cNvPr id="627" name="Google Shape;627;p67"/>
          <p:cNvPicPr preferRelativeResize="0"/>
          <p:nvPr>
            <p:ph idx="3" type="pic"/>
          </p:nvPr>
        </p:nvPicPr>
        <p:blipFill rotWithShape="1">
          <a:blip r:embed="rId5">
            <a:alphaModFix/>
          </a:blip>
          <a:srcRect b="0" l="884" r="874" t="0"/>
          <a:stretch/>
        </p:blipFill>
        <p:spPr>
          <a:xfrm>
            <a:off x="7828875" y="2471025"/>
            <a:ext cx="1037700" cy="1056300"/>
          </a:xfrm>
          <a:prstGeom prst="roundRect">
            <a:avLst>
              <a:gd fmla="val 16667" name="adj"/>
            </a:avLst>
          </a:prstGeom>
          <a:noFill/>
          <a:ln>
            <a:noFill/>
          </a:ln>
        </p:spPr>
      </p:pic>
      <p:pic>
        <p:nvPicPr>
          <p:cNvPr id="628" name="Google Shape;628;p67"/>
          <p:cNvPicPr preferRelativeResize="0"/>
          <p:nvPr/>
        </p:nvPicPr>
        <p:blipFill>
          <a:blip r:embed="rId6">
            <a:alphaModFix/>
          </a:blip>
          <a:stretch>
            <a:fillRect/>
          </a:stretch>
        </p:blipFill>
        <p:spPr>
          <a:xfrm>
            <a:off x="1048725" y="1078875"/>
            <a:ext cx="2101100" cy="38405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pic>
        <p:nvPicPr>
          <p:cNvPr id="633" name="Google Shape;633;p68"/>
          <p:cNvPicPr preferRelativeResize="0"/>
          <p:nvPr/>
        </p:nvPicPr>
        <p:blipFill>
          <a:blip r:embed="rId3">
            <a:alphaModFix/>
          </a:blip>
          <a:stretch>
            <a:fillRect/>
          </a:stretch>
        </p:blipFill>
        <p:spPr>
          <a:xfrm>
            <a:off x="2407243" y="152400"/>
            <a:ext cx="4859508" cy="49910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6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639" name="Google Shape;639;p69"/>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a:t>3</a:t>
            </a:r>
            <a:endParaRPr b="1"/>
          </a:p>
        </p:txBody>
      </p:sp>
      <p:sp>
        <p:nvSpPr>
          <p:cNvPr id="640" name="Google Shape;640;p69"/>
          <p:cNvSpPr txBox="1"/>
          <p:nvPr>
            <p:ph type="title"/>
          </p:nvPr>
        </p:nvSpPr>
        <p:spPr>
          <a:xfrm>
            <a:off x="2591675" y="3493075"/>
            <a:ext cx="59922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IT’S TIME TO DEMO!</a:t>
            </a:r>
            <a:endParaRPr b="1">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70"/>
          <p:cNvSpPr txBox="1"/>
          <p:nvPr>
            <p:ph type="title"/>
          </p:nvPr>
        </p:nvSpPr>
        <p:spPr>
          <a:xfrm>
            <a:off x="282150" y="368625"/>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2800">
                <a:latin typeface="Times New Roman"/>
                <a:ea typeface="Times New Roman"/>
                <a:cs typeface="Times New Roman"/>
                <a:sym typeface="Times New Roman"/>
              </a:rPr>
              <a:t>Comparison of Tested Models' Results (Llama 3 8B)</a:t>
            </a:r>
            <a:endParaRPr b="1" sz="2800">
              <a:latin typeface="Times New Roman"/>
              <a:ea typeface="Times New Roman"/>
              <a:cs typeface="Times New Roman"/>
              <a:sym typeface="Times New Roman"/>
            </a:endParaRPr>
          </a:p>
        </p:txBody>
      </p:sp>
      <p:sp>
        <p:nvSpPr>
          <p:cNvPr id="646" name="Google Shape;646;p7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647" name="Google Shape;647;p70"/>
          <p:cNvPicPr preferRelativeResize="0"/>
          <p:nvPr/>
        </p:nvPicPr>
        <p:blipFill>
          <a:blip r:embed="rId3">
            <a:alphaModFix/>
          </a:blip>
          <a:stretch>
            <a:fillRect/>
          </a:stretch>
        </p:blipFill>
        <p:spPr>
          <a:xfrm>
            <a:off x="805400" y="967425"/>
            <a:ext cx="7533192" cy="3892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71"/>
          <p:cNvSpPr txBox="1"/>
          <p:nvPr>
            <p:ph type="title"/>
          </p:nvPr>
        </p:nvSpPr>
        <p:spPr>
          <a:xfrm>
            <a:off x="277500" y="82875"/>
            <a:ext cx="8862000" cy="7479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2800">
                <a:latin typeface="Times New Roman"/>
                <a:ea typeface="Times New Roman"/>
                <a:cs typeface="Times New Roman"/>
                <a:sym typeface="Times New Roman"/>
              </a:rPr>
              <a:t>Comparison of Tested Models' Results (</a:t>
            </a:r>
            <a:r>
              <a:rPr b="1" lang="en" sz="2800">
                <a:latin typeface="Times New Roman"/>
                <a:ea typeface="Times New Roman"/>
                <a:cs typeface="Times New Roman"/>
                <a:sym typeface="Times New Roman"/>
              </a:rPr>
              <a:t>BART-Large-CNN SAMSum</a:t>
            </a:r>
            <a:r>
              <a:rPr b="1" lang="en" sz="2800">
                <a:latin typeface="Times New Roman"/>
                <a:ea typeface="Times New Roman"/>
                <a:cs typeface="Times New Roman"/>
                <a:sym typeface="Times New Roman"/>
              </a:rPr>
              <a:t>)</a:t>
            </a:r>
            <a:endParaRPr b="1" sz="2800">
              <a:latin typeface="Times New Roman"/>
              <a:ea typeface="Times New Roman"/>
              <a:cs typeface="Times New Roman"/>
              <a:sym typeface="Times New Roman"/>
            </a:endParaRPr>
          </a:p>
        </p:txBody>
      </p:sp>
      <p:sp>
        <p:nvSpPr>
          <p:cNvPr id="653" name="Google Shape;653;p7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654" name="Google Shape;654;p71"/>
          <p:cNvPicPr preferRelativeResize="0"/>
          <p:nvPr/>
        </p:nvPicPr>
        <p:blipFill>
          <a:blip r:embed="rId3">
            <a:alphaModFix/>
          </a:blip>
          <a:stretch>
            <a:fillRect/>
          </a:stretch>
        </p:blipFill>
        <p:spPr>
          <a:xfrm>
            <a:off x="343288" y="1149325"/>
            <a:ext cx="8457425" cy="2372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72"/>
          <p:cNvSpPr txBox="1"/>
          <p:nvPr>
            <p:ph type="title"/>
          </p:nvPr>
        </p:nvSpPr>
        <p:spPr>
          <a:xfrm>
            <a:off x="277500" y="416250"/>
            <a:ext cx="8589000" cy="626700"/>
          </a:xfrm>
          <a:prstGeom prst="rect">
            <a:avLst/>
          </a:prstGeom>
        </p:spPr>
        <p:txBody>
          <a:bodyPr anchorCtr="0" anchor="t" bIns="0" lIns="0" spcFirstLastPara="1" rIns="0" wrap="square" tIns="91425">
            <a:noAutofit/>
          </a:bodyPr>
          <a:lstStyle/>
          <a:p>
            <a:pPr indent="0" lvl="0" marL="0" marR="0" rtl="0" algn="l">
              <a:lnSpc>
                <a:spcPct val="100000"/>
              </a:lnSpc>
              <a:spcBef>
                <a:spcPts val="0"/>
              </a:spcBef>
              <a:spcAft>
                <a:spcPts val="0"/>
              </a:spcAft>
              <a:buNone/>
            </a:pPr>
            <a:r>
              <a:rPr b="1" lang="en" sz="2800">
                <a:latin typeface="Times New Roman"/>
                <a:ea typeface="Times New Roman"/>
                <a:cs typeface="Times New Roman"/>
                <a:sym typeface="Times New Roman"/>
              </a:rPr>
              <a:t>AI </a:t>
            </a:r>
            <a:r>
              <a:rPr b="1" lang="en" sz="2800">
                <a:latin typeface="Times New Roman"/>
                <a:ea typeface="Times New Roman"/>
                <a:cs typeface="Times New Roman"/>
                <a:sym typeface="Times New Roman"/>
              </a:rPr>
              <a:t>Interpretability</a:t>
            </a:r>
            <a:r>
              <a:rPr b="1" lang="en" sz="2800">
                <a:latin typeface="Times New Roman"/>
                <a:ea typeface="Times New Roman"/>
                <a:cs typeface="Times New Roman"/>
                <a:sym typeface="Times New Roman"/>
              </a:rPr>
              <a:t> </a:t>
            </a:r>
            <a:endParaRPr b="1" sz="2800">
              <a:latin typeface="Times New Roman"/>
              <a:ea typeface="Times New Roman"/>
              <a:cs typeface="Times New Roman"/>
              <a:sym typeface="Times New Roman"/>
            </a:endParaRPr>
          </a:p>
        </p:txBody>
      </p:sp>
      <p:sp>
        <p:nvSpPr>
          <p:cNvPr id="660" name="Google Shape;660;p72"/>
          <p:cNvSpPr txBox="1"/>
          <p:nvPr/>
        </p:nvSpPr>
        <p:spPr>
          <a:xfrm>
            <a:off x="277500" y="1233350"/>
            <a:ext cx="703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Arimo"/>
              <a:ea typeface="Arimo"/>
              <a:cs typeface="Arimo"/>
              <a:sym typeface="Arimo"/>
            </a:endParaRPr>
          </a:p>
        </p:txBody>
      </p:sp>
      <p:sp>
        <p:nvSpPr>
          <p:cNvPr id="661" name="Google Shape;661;p72"/>
          <p:cNvSpPr txBox="1"/>
          <p:nvPr/>
        </p:nvSpPr>
        <p:spPr>
          <a:xfrm>
            <a:off x="354125" y="1233350"/>
            <a:ext cx="3810000" cy="13698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Font typeface="Arimo"/>
              <a:buChar char="●"/>
            </a:pPr>
            <a:r>
              <a:rPr lang="en">
                <a:solidFill>
                  <a:schemeClr val="dk1"/>
                </a:solidFill>
                <a:latin typeface="Arimo"/>
                <a:ea typeface="Arimo"/>
                <a:cs typeface="Arimo"/>
                <a:sym typeface="Arimo"/>
              </a:rPr>
              <a:t>Understand</a:t>
            </a:r>
            <a:r>
              <a:rPr lang="en">
                <a:solidFill>
                  <a:schemeClr val="dk1"/>
                </a:solidFill>
                <a:latin typeface="Arimo"/>
                <a:ea typeface="Arimo"/>
                <a:cs typeface="Arimo"/>
                <a:sym typeface="Arimo"/>
              </a:rPr>
              <a:t> the </a:t>
            </a:r>
            <a:r>
              <a:rPr lang="en">
                <a:solidFill>
                  <a:schemeClr val="dk1"/>
                </a:solidFill>
                <a:latin typeface="Arimo"/>
                <a:ea typeface="Arimo"/>
                <a:cs typeface="Arimo"/>
                <a:sym typeface="Arimo"/>
              </a:rPr>
              <a:t>complexity</a:t>
            </a:r>
            <a:r>
              <a:rPr lang="en">
                <a:solidFill>
                  <a:schemeClr val="dk1"/>
                </a:solidFill>
                <a:latin typeface="Arimo"/>
                <a:ea typeface="Arimo"/>
                <a:cs typeface="Arimo"/>
                <a:sym typeface="Arimo"/>
              </a:rPr>
              <a:t> of neural networks</a:t>
            </a:r>
            <a:endParaRPr>
              <a:solidFill>
                <a:schemeClr val="dk1"/>
              </a:solidFill>
              <a:latin typeface="Arimo"/>
              <a:ea typeface="Arimo"/>
              <a:cs typeface="Arimo"/>
              <a:sym typeface="Arimo"/>
            </a:endParaRPr>
          </a:p>
          <a:p>
            <a:pPr indent="-317500" lvl="0" marL="457200" rtl="0" algn="l">
              <a:lnSpc>
                <a:spcPct val="150000"/>
              </a:lnSpc>
              <a:spcBef>
                <a:spcPts val="0"/>
              </a:spcBef>
              <a:spcAft>
                <a:spcPts val="0"/>
              </a:spcAft>
              <a:buClr>
                <a:schemeClr val="dk1"/>
              </a:buClr>
              <a:buSzPts val="1400"/>
              <a:buFont typeface="Arimo"/>
              <a:buChar char="●"/>
            </a:pPr>
            <a:r>
              <a:rPr lang="en">
                <a:solidFill>
                  <a:schemeClr val="dk1"/>
                </a:solidFill>
                <a:latin typeface="Arimo"/>
                <a:ea typeface="Arimo"/>
                <a:cs typeface="Arimo"/>
                <a:sym typeface="Arimo"/>
              </a:rPr>
              <a:t>Building Trust and Confidence</a:t>
            </a:r>
            <a:endParaRPr>
              <a:solidFill>
                <a:schemeClr val="dk1"/>
              </a:solidFill>
              <a:latin typeface="Arimo"/>
              <a:ea typeface="Arimo"/>
              <a:cs typeface="Arimo"/>
              <a:sym typeface="Arimo"/>
            </a:endParaRPr>
          </a:p>
          <a:p>
            <a:pPr indent="-317500" lvl="0" marL="457200" rtl="0" algn="l">
              <a:lnSpc>
                <a:spcPct val="150000"/>
              </a:lnSpc>
              <a:spcBef>
                <a:spcPts val="0"/>
              </a:spcBef>
              <a:spcAft>
                <a:spcPts val="0"/>
              </a:spcAft>
              <a:buClr>
                <a:schemeClr val="dk1"/>
              </a:buClr>
              <a:buSzPts val="1400"/>
              <a:buFont typeface="Arimo"/>
              <a:buChar char="●"/>
            </a:pPr>
            <a:r>
              <a:rPr lang="en">
                <a:solidFill>
                  <a:schemeClr val="dk1"/>
                </a:solidFill>
                <a:latin typeface="Arimo"/>
                <a:ea typeface="Arimo"/>
                <a:cs typeface="Arimo"/>
                <a:sym typeface="Arimo"/>
              </a:rPr>
              <a:t>Mitigating Bias</a:t>
            </a:r>
            <a:endParaRPr>
              <a:solidFill>
                <a:schemeClr val="dk1"/>
              </a:solidFill>
              <a:latin typeface="Arimo"/>
              <a:ea typeface="Arimo"/>
              <a:cs typeface="Arimo"/>
              <a:sym typeface="Arimo"/>
            </a:endParaRPr>
          </a:p>
        </p:txBody>
      </p:sp>
      <p:sp>
        <p:nvSpPr>
          <p:cNvPr id="662" name="Google Shape;662;p72"/>
          <p:cNvSpPr txBox="1"/>
          <p:nvPr/>
        </p:nvSpPr>
        <p:spPr>
          <a:xfrm>
            <a:off x="476225" y="3454250"/>
            <a:ext cx="2845200" cy="8181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0"/>
              </a:spcAft>
              <a:buClr>
                <a:schemeClr val="lt1"/>
              </a:buClr>
              <a:buSzPts val="1100"/>
              <a:buFont typeface="Arial"/>
              <a:buNone/>
            </a:pPr>
            <a:r>
              <a:rPr b="1" lang="en" sz="1500">
                <a:solidFill>
                  <a:schemeClr val="dk1"/>
                </a:solidFill>
                <a:latin typeface="Arimo"/>
                <a:ea typeface="Arimo"/>
                <a:cs typeface="Arimo"/>
                <a:sym typeface="Arimo"/>
              </a:rPr>
              <a:t>Feature Visualization - Distill</a:t>
            </a:r>
            <a:endParaRPr b="1" sz="15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Font typeface="Arial"/>
              <a:buNone/>
            </a:pPr>
            <a:r>
              <a:t/>
            </a:r>
            <a:endParaRPr sz="1100">
              <a:solidFill>
                <a:schemeClr val="lt1"/>
              </a:solidFill>
            </a:endParaRPr>
          </a:p>
          <a:p>
            <a:pPr indent="0" lvl="0" marL="0" rtl="0" algn="l">
              <a:spcBef>
                <a:spcPts val="0"/>
              </a:spcBef>
              <a:spcAft>
                <a:spcPts val="0"/>
              </a:spcAft>
              <a:buNone/>
            </a:pPr>
            <a:r>
              <a:t/>
            </a:r>
            <a:endParaRPr sz="1200">
              <a:solidFill>
                <a:schemeClr val="dk1"/>
              </a:solidFill>
              <a:latin typeface="Arimo"/>
              <a:ea typeface="Arimo"/>
              <a:cs typeface="Arimo"/>
              <a:sym typeface="Arimo"/>
            </a:endParaRPr>
          </a:p>
        </p:txBody>
      </p:sp>
      <p:pic>
        <p:nvPicPr>
          <p:cNvPr id="663" name="Google Shape;663;p72"/>
          <p:cNvPicPr preferRelativeResize="0"/>
          <p:nvPr/>
        </p:nvPicPr>
        <p:blipFill>
          <a:blip r:embed="rId3">
            <a:alphaModFix/>
          </a:blip>
          <a:stretch>
            <a:fillRect/>
          </a:stretch>
        </p:blipFill>
        <p:spPr>
          <a:xfrm>
            <a:off x="4458150" y="0"/>
            <a:ext cx="4408349" cy="46339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73"/>
          <p:cNvSpPr txBox="1"/>
          <p:nvPr>
            <p:ph type="title"/>
          </p:nvPr>
        </p:nvSpPr>
        <p:spPr>
          <a:xfrm>
            <a:off x="277500" y="46170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sz="3600">
                <a:latin typeface="Times New Roman"/>
                <a:ea typeface="Times New Roman"/>
                <a:cs typeface="Times New Roman"/>
                <a:sym typeface="Times New Roman"/>
              </a:rPr>
              <a:t>Next Steps &amp; Improvements</a:t>
            </a:r>
            <a:endParaRPr/>
          </a:p>
        </p:txBody>
      </p:sp>
      <p:sp>
        <p:nvSpPr>
          <p:cNvPr id="669" name="Google Shape;669;p73"/>
          <p:cNvSpPr/>
          <p:nvPr/>
        </p:nvSpPr>
        <p:spPr>
          <a:xfrm>
            <a:off x="277500" y="1237550"/>
            <a:ext cx="7472100" cy="579300"/>
          </a:xfrm>
          <a:prstGeom prst="roundRect">
            <a:avLst>
              <a:gd fmla="val 16667" name="adj"/>
            </a:avLst>
          </a:prstGeom>
          <a:solidFill>
            <a:srgbClr val="EBE0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ctr">
              <a:lnSpc>
                <a:spcPct val="115000"/>
              </a:lnSpc>
              <a:spcBef>
                <a:spcPts val="0"/>
              </a:spcBef>
              <a:spcAft>
                <a:spcPts val="0"/>
              </a:spcAft>
              <a:buNone/>
            </a:pPr>
            <a:r>
              <a:t/>
            </a:r>
            <a:endParaRPr>
              <a:solidFill>
                <a:schemeClr val="dk1"/>
              </a:solidFill>
              <a:latin typeface="Arimo"/>
              <a:ea typeface="Arimo"/>
              <a:cs typeface="Arimo"/>
              <a:sym typeface="Arimo"/>
            </a:endParaRPr>
          </a:p>
          <a:p>
            <a:pPr indent="0" lvl="0" marL="457200" rtl="0" algn="ctr">
              <a:lnSpc>
                <a:spcPct val="115000"/>
              </a:lnSpc>
              <a:spcBef>
                <a:spcPts val="800"/>
              </a:spcBef>
              <a:spcAft>
                <a:spcPts val="0"/>
              </a:spcAft>
              <a:buNone/>
            </a:pPr>
            <a:r>
              <a:rPr lang="en">
                <a:solidFill>
                  <a:schemeClr val="dk1"/>
                </a:solidFill>
                <a:latin typeface="Arimo"/>
                <a:ea typeface="Arimo"/>
                <a:cs typeface="Arimo"/>
                <a:sym typeface="Arimo"/>
              </a:rPr>
              <a:t>Run web application in a server</a:t>
            </a:r>
            <a:endParaRPr>
              <a:solidFill>
                <a:schemeClr val="dk1"/>
              </a:solidFill>
              <a:latin typeface="Arimo"/>
              <a:ea typeface="Arimo"/>
              <a:cs typeface="Arimo"/>
              <a:sym typeface="Arimo"/>
            </a:endParaRPr>
          </a:p>
          <a:p>
            <a:pPr indent="0" lvl="0" marL="0" rtl="0" algn="ctr">
              <a:spcBef>
                <a:spcPts val="800"/>
              </a:spcBef>
              <a:spcAft>
                <a:spcPts val="0"/>
              </a:spcAft>
              <a:buNone/>
            </a:pPr>
            <a:r>
              <a:t/>
            </a:r>
            <a:endParaRPr>
              <a:latin typeface="Arimo"/>
              <a:ea typeface="Arimo"/>
              <a:cs typeface="Arimo"/>
              <a:sym typeface="Arimo"/>
            </a:endParaRPr>
          </a:p>
        </p:txBody>
      </p:sp>
      <p:sp>
        <p:nvSpPr>
          <p:cNvPr id="670" name="Google Shape;670;p73"/>
          <p:cNvSpPr/>
          <p:nvPr/>
        </p:nvSpPr>
        <p:spPr>
          <a:xfrm>
            <a:off x="277500" y="2011400"/>
            <a:ext cx="7472100" cy="579300"/>
          </a:xfrm>
          <a:prstGeom prst="roundRect">
            <a:avLst>
              <a:gd fmla="val 16667" name="adj"/>
            </a:avLst>
          </a:prstGeom>
          <a:solidFill>
            <a:srgbClr val="EBE0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latin typeface="Arimo"/>
              <a:ea typeface="Arimo"/>
              <a:cs typeface="Arimo"/>
              <a:sym typeface="Arimo"/>
            </a:endParaRPr>
          </a:p>
          <a:p>
            <a:pPr indent="0" lvl="0" marL="457200" rtl="0" algn="ctr">
              <a:lnSpc>
                <a:spcPct val="115000"/>
              </a:lnSpc>
              <a:spcBef>
                <a:spcPts val="800"/>
              </a:spcBef>
              <a:spcAft>
                <a:spcPts val="0"/>
              </a:spcAft>
              <a:buNone/>
            </a:pPr>
            <a:r>
              <a:rPr lang="en">
                <a:solidFill>
                  <a:schemeClr val="dk1"/>
                </a:solidFill>
                <a:latin typeface="Arimo"/>
                <a:ea typeface="Arimo"/>
                <a:cs typeface="Arimo"/>
                <a:sym typeface="Arimo"/>
              </a:rPr>
              <a:t>Use Whisper large models (1.55 B) for multilingual transcription</a:t>
            </a:r>
            <a:endParaRPr>
              <a:solidFill>
                <a:schemeClr val="dk1"/>
              </a:solidFill>
              <a:latin typeface="Arimo"/>
              <a:ea typeface="Arimo"/>
              <a:cs typeface="Arimo"/>
              <a:sym typeface="Arimo"/>
            </a:endParaRPr>
          </a:p>
          <a:p>
            <a:pPr indent="0" lvl="0" marL="0" rtl="0" algn="ctr">
              <a:spcBef>
                <a:spcPts val="800"/>
              </a:spcBef>
              <a:spcAft>
                <a:spcPts val="0"/>
              </a:spcAft>
              <a:buNone/>
            </a:pPr>
            <a:r>
              <a:t/>
            </a:r>
            <a:endParaRPr>
              <a:latin typeface="Arimo"/>
              <a:ea typeface="Arimo"/>
              <a:cs typeface="Arimo"/>
              <a:sym typeface="Arimo"/>
            </a:endParaRPr>
          </a:p>
        </p:txBody>
      </p:sp>
      <p:sp>
        <p:nvSpPr>
          <p:cNvPr id="671" name="Google Shape;671;p73"/>
          <p:cNvSpPr/>
          <p:nvPr/>
        </p:nvSpPr>
        <p:spPr>
          <a:xfrm>
            <a:off x="277500" y="2794725"/>
            <a:ext cx="7472100" cy="579300"/>
          </a:xfrm>
          <a:prstGeom prst="roundRect">
            <a:avLst>
              <a:gd fmla="val 16667" name="adj"/>
            </a:avLst>
          </a:prstGeom>
          <a:solidFill>
            <a:srgbClr val="EBE0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latin typeface="Arimo"/>
              <a:ea typeface="Arimo"/>
              <a:cs typeface="Arimo"/>
              <a:sym typeface="Arimo"/>
            </a:endParaRPr>
          </a:p>
          <a:p>
            <a:pPr indent="0" lvl="0" marL="457200" rtl="0" algn="ctr">
              <a:lnSpc>
                <a:spcPct val="115000"/>
              </a:lnSpc>
              <a:spcBef>
                <a:spcPts val="800"/>
              </a:spcBef>
              <a:spcAft>
                <a:spcPts val="0"/>
              </a:spcAft>
              <a:buNone/>
            </a:pPr>
            <a:r>
              <a:rPr lang="en">
                <a:solidFill>
                  <a:schemeClr val="dk1"/>
                </a:solidFill>
                <a:latin typeface="Arimo"/>
                <a:ea typeface="Arimo"/>
                <a:cs typeface="Arimo"/>
                <a:sym typeface="Arimo"/>
              </a:rPr>
              <a:t>Use </a:t>
            </a:r>
            <a:r>
              <a:rPr lang="en">
                <a:solidFill>
                  <a:schemeClr val="dk1"/>
                </a:solidFill>
                <a:latin typeface="Arimo"/>
                <a:ea typeface="Arimo"/>
                <a:cs typeface="Arimo"/>
                <a:sym typeface="Arimo"/>
              </a:rPr>
              <a:t>a more complex LLM that adapts to more open conversations</a:t>
            </a:r>
            <a:endParaRPr>
              <a:solidFill>
                <a:schemeClr val="dk1"/>
              </a:solidFill>
              <a:latin typeface="Arimo"/>
              <a:ea typeface="Arimo"/>
              <a:cs typeface="Arimo"/>
              <a:sym typeface="Arimo"/>
            </a:endParaRPr>
          </a:p>
          <a:p>
            <a:pPr indent="0" lvl="0" marL="0" rtl="0" algn="ctr">
              <a:spcBef>
                <a:spcPts val="800"/>
              </a:spcBef>
              <a:spcAft>
                <a:spcPts val="0"/>
              </a:spcAft>
              <a:buNone/>
            </a:pPr>
            <a:r>
              <a:t/>
            </a:r>
            <a:endParaRPr>
              <a:latin typeface="Arimo"/>
              <a:ea typeface="Arimo"/>
              <a:cs typeface="Arimo"/>
              <a:sym typeface="Arimo"/>
            </a:endParaRPr>
          </a:p>
        </p:txBody>
      </p:sp>
      <p:sp>
        <p:nvSpPr>
          <p:cNvPr id="672" name="Google Shape;672;p73"/>
          <p:cNvSpPr/>
          <p:nvPr/>
        </p:nvSpPr>
        <p:spPr>
          <a:xfrm>
            <a:off x="277500" y="3582800"/>
            <a:ext cx="7472100" cy="579300"/>
          </a:xfrm>
          <a:prstGeom prst="roundRect">
            <a:avLst>
              <a:gd fmla="val 16667" name="adj"/>
            </a:avLst>
          </a:prstGeom>
          <a:solidFill>
            <a:srgbClr val="EBE0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latin typeface="Arimo"/>
              <a:ea typeface="Arimo"/>
              <a:cs typeface="Arimo"/>
              <a:sym typeface="Arimo"/>
            </a:endParaRPr>
          </a:p>
          <a:p>
            <a:pPr indent="0" lvl="0" marL="457200" rtl="0" algn="ctr">
              <a:lnSpc>
                <a:spcPct val="115000"/>
              </a:lnSpc>
              <a:spcBef>
                <a:spcPts val="800"/>
              </a:spcBef>
              <a:spcAft>
                <a:spcPts val="0"/>
              </a:spcAft>
              <a:buNone/>
            </a:pPr>
            <a:r>
              <a:rPr lang="en">
                <a:solidFill>
                  <a:schemeClr val="dk1"/>
                </a:solidFill>
                <a:latin typeface="Arimo"/>
                <a:ea typeface="Arimo"/>
                <a:cs typeface="Arimo"/>
                <a:sym typeface="Arimo"/>
              </a:rPr>
              <a:t>Create a more sophisticated web design</a:t>
            </a:r>
            <a:endParaRPr>
              <a:solidFill>
                <a:schemeClr val="dk1"/>
              </a:solidFill>
              <a:latin typeface="Arimo"/>
              <a:ea typeface="Arimo"/>
              <a:cs typeface="Arimo"/>
              <a:sym typeface="Arimo"/>
            </a:endParaRPr>
          </a:p>
          <a:p>
            <a:pPr indent="0" lvl="0" marL="0" rtl="0" algn="ctr">
              <a:spcBef>
                <a:spcPts val="800"/>
              </a:spcBef>
              <a:spcAft>
                <a:spcPts val="0"/>
              </a:spcAft>
              <a:buNone/>
            </a:pPr>
            <a:r>
              <a:t/>
            </a:r>
            <a:endParaRPr>
              <a:latin typeface="Arimo"/>
              <a:ea typeface="Arimo"/>
              <a:cs typeface="Arimo"/>
              <a:sym typeface="Arimo"/>
            </a:endParaRPr>
          </a:p>
        </p:txBody>
      </p:sp>
      <p:sp>
        <p:nvSpPr>
          <p:cNvPr id="673" name="Google Shape;673;p73"/>
          <p:cNvSpPr/>
          <p:nvPr/>
        </p:nvSpPr>
        <p:spPr>
          <a:xfrm>
            <a:off x="277500" y="4370875"/>
            <a:ext cx="7472100" cy="579300"/>
          </a:xfrm>
          <a:prstGeom prst="roundRect">
            <a:avLst>
              <a:gd fmla="val 16667" name="adj"/>
            </a:avLst>
          </a:prstGeom>
          <a:solidFill>
            <a:srgbClr val="EBE0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latin typeface="Arimo"/>
              <a:ea typeface="Arimo"/>
              <a:cs typeface="Arimo"/>
              <a:sym typeface="Arimo"/>
            </a:endParaRPr>
          </a:p>
          <a:p>
            <a:pPr indent="0" lvl="0" marL="457200" rtl="0" algn="ctr">
              <a:lnSpc>
                <a:spcPct val="115000"/>
              </a:lnSpc>
              <a:spcBef>
                <a:spcPts val="800"/>
              </a:spcBef>
              <a:spcAft>
                <a:spcPts val="0"/>
              </a:spcAft>
              <a:buNone/>
            </a:pPr>
            <a:r>
              <a:rPr lang="en">
                <a:solidFill>
                  <a:schemeClr val="dk1"/>
                </a:solidFill>
                <a:latin typeface="Arimo"/>
                <a:ea typeface="Arimo"/>
                <a:cs typeface="Arimo"/>
                <a:sym typeface="Arimo"/>
              </a:rPr>
              <a:t>Train our own Emotion Classificator</a:t>
            </a:r>
            <a:endParaRPr>
              <a:solidFill>
                <a:schemeClr val="dk1"/>
              </a:solidFill>
              <a:latin typeface="Arimo"/>
              <a:ea typeface="Arimo"/>
              <a:cs typeface="Arimo"/>
              <a:sym typeface="Arimo"/>
            </a:endParaRPr>
          </a:p>
          <a:p>
            <a:pPr indent="0" lvl="0" marL="0" rtl="0" algn="ctr">
              <a:spcBef>
                <a:spcPts val="800"/>
              </a:spcBef>
              <a:spcAft>
                <a:spcPts val="0"/>
              </a:spcAft>
              <a:buNone/>
            </a:pPr>
            <a:r>
              <a:t/>
            </a:r>
            <a:endParaRPr>
              <a:latin typeface="Arimo"/>
              <a:ea typeface="Arimo"/>
              <a:cs typeface="Arimo"/>
              <a:sym typeface="Arimo"/>
            </a:endParaRPr>
          </a:p>
        </p:txBody>
      </p:sp>
      <p:sp>
        <p:nvSpPr>
          <p:cNvPr id="674" name="Google Shape;674;p73"/>
          <p:cNvSpPr/>
          <p:nvPr/>
        </p:nvSpPr>
        <p:spPr>
          <a:xfrm>
            <a:off x="455050" y="1323800"/>
            <a:ext cx="358500" cy="3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imo"/>
                <a:ea typeface="Arimo"/>
                <a:cs typeface="Arimo"/>
                <a:sym typeface="Arimo"/>
              </a:rPr>
              <a:t>1</a:t>
            </a:r>
            <a:endParaRPr>
              <a:latin typeface="Arimo"/>
              <a:ea typeface="Arimo"/>
              <a:cs typeface="Arimo"/>
              <a:sym typeface="Arimo"/>
            </a:endParaRPr>
          </a:p>
        </p:txBody>
      </p:sp>
      <p:sp>
        <p:nvSpPr>
          <p:cNvPr id="675" name="Google Shape;675;p73"/>
          <p:cNvSpPr/>
          <p:nvPr/>
        </p:nvSpPr>
        <p:spPr>
          <a:xfrm>
            <a:off x="455050" y="2119638"/>
            <a:ext cx="358500" cy="3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imo"/>
                <a:ea typeface="Arimo"/>
                <a:cs typeface="Arimo"/>
                <a:sym typeface="Arimo"/>
              </a:rPr>
              <a:t>2</a:t>
            </a:r>
            <a:endParaRPr>
              <a:latin typeface="Arimo"/>
              <a:ea typeface="Arimo"/>
              <a:cs typeface="Arimo"/>
              <a:sym typeface="Arimo"/>
            </a:endParaRPr>
          </a:p>
        </p:txBody>
      </p:sp>
      <p:sp>
        <p:nvSpPr>
          <p:cNvPr id="676" name="Google Shape;676;p73"/>
          <p:cNvSpPr/>
          <p:nvPr/>
        </p:nvSpPr>
        <p:spPr>
          <a:xfrm>
            <a:off x="455050" y="2900600"/>
            <a:ext cx="358500" cy="3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imo"/>
                <a:ea typeface="Arimo"/>
                <a:cs typeface="Arimo"/>
                <a:sym typeface="Arimo"/>
              </a:rPr>
              <a:t>3</a:t>
            </a:r>
            <a:endParaRPr>
              <a:latin typeface="Arimo"/>
              <a:ea typeface="Arimo"/>
              <a:cs typeface="Arimo"/>
              <a:sym typeface="Arimo"/>
            </a:endParaRPr>
          </a:p>
        </p:txBody>
      </p:sp>
      <p:sp>
        <p:nvSpPr>
          <p:cNvPr id="677" name="Google Shape;677;p73"/>
          <p:cNvSpPr/>
          <p:nvPr/>
        </p:nvSpPr>
        <p:spPr>
          <a:xfrm>
            <a:off x="455050" y="3686300"/>
            <a:ext cx="358500" cy="3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imo"/>
                <a:ea typeface="Arimo"/>
                <a:cs typeface="Arimo"/>
                <a:sym typeface="Arimo"/>
              </a:rPr>
              <a:t>4</a:t>
            </a:r>
            <a:endParaRPr>
              <a:latin typeface="Arimo"/>
              <a:ea typeface="Arimo"/>
              <a:cs typeface="Arimo"/>
              <a:sym typeface="Arimo"/>
            </a:endParaRPr>
          </a:p>
        </p:txBody>
      </p:sp>
      <p:sp>
        <p:nvSpPr>
          <p:cNvPr id="678" name="Google Shape;678;p73"/>
          <p:cNvSpPr/>
          <p:nvPr/>
        </p:nvSpPr>
        <p:spPr>
          <a:xfrm>
            <a:off x="455050" y="4472000"/>
            <a:ext cx="358500" cy="37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imo"/>
                <a:ea typeface="Arimo"/>
                <a:cs typeface="Arimo"/>
                <a:sym typeface="Arimo"/>
              </a:rPr>
              <a:t>5</a:t>
            </a:r>
            <a:endParaRPr>
              <a:latin typeface="Arimo"/>
              <a:ea typeface="Arimo"/>
              <a:cs typeface="Arimo"/>
              <a:sym typeface="Arimo"/>
            </a:endParaRPr>
          </a:p>
        </p:txBody>
      </p:sp>
      <p:sp>
        <p:nvSpPr>
          <p:cNvPr id="679" name="Google Shape;679;p73"/>
          <p:cNvSpPr/>
          <p:nvPr/>
        </p:nvSpPr>
        <p:spPr>
          <a:xfrm>
            <a:off x="7749600" y="1489275"/>
            <a:ext cx="289500" cy="713100"/>
          </a:xfrm>
          <a:prstGeom prst="curvedLeftArrow">
            <a:avLst>
              <a:gd fmla="val 25000" name="adj1"/>
              <a:gd fmla="val 50000" name="adj2"/>
              <a:gd fmla="val 25000" name="adj3"/>
            </a:avLst>
          </a:prstGeom>
          <a:solidFill>
            <a:srgbClr val="2021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680" name="Google Shape;680;p73"/>
          <p:cNvSpPr/>
          <p:nvPr/>
        </p:nvSpPr>
        <p:spPr>
          <a:xfrm>
            <a:off x="7749600" y="2344950"/>
            <a:ext cx="289500" cy="713100"/>
          </a:xfrm>
          <a:prstGeom prst="curvedLeftArrow">
            <a:avLst>
              <a:gd fmla="val 25000" name="adj1"/>
              <a:gd fmla="val 50000" name="adj2"/>
              <a:gd fmla="val 52401" name="adj3"/>
            </a:avLst>
          </a:prstGeom>
          <a:solidFill>
            <a:srgbClr val="2021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681" name="Google Shape;681;p73"/>
          <p:cNvSpPr/>
          <p:nvPr/>
        </p:nvSpPr>
        <p:spPr>
          <a:xfrm>
            <a:off x="7749600" y="3189675"/>
            <a:ext cx="289500" cy="679800"/>
          </a:xfrm>
          <a:prstGeom prst="curvedLeftArrow">
            <a:avLst>
              <a:gd fmla="val 25000" name="adj1"/>
              <a:gd fmla="val 50000" name="adj2"/>
              <a:gd fmla="val 25000" name="adj3"/>
            </a:avLst>
          </a:prstGeom>
          <a:solidFill>
            <a:srgbClr val="2021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682" name="Google Shape;682;p73"/>
          <p:cNvSpPr/>
          <p:nvPr/>
        </p:nvSpPr>
        <p:spPr>
          <a:xfrm>
            <a:off x="7749600" y="4001100"/>
            <a:ext cx="289500" cy="713100"/>
          </a:xfrm>
          <a:prstGeom prst="curvedLeftArrow">
            <a:avLst>
              <a:gd fmla="val 25000" name="adj1"/>
              <a:gd fmla="val 50000" name="adj2"/>
              <a:gd fmla="val 25000" name="adj3"/>
            </a:avLst>
          </a:prstGeom>
          <a:solidFill>
            <a:srgbClr val="20212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7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688" name="Google Shape;688;p74"/>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a:t>5</a:t>
            </a:r>
            <a:endParaRPr b="1"/>
          </a:p>
        </p:txBody>
      </p:sp>
      <p:sp>
        <p:nvSpPr>
          <p:cNvPr id="689" name="Google Shape;689;p74"/>
          <p:cNvSpPr txBox="1"/>
          <p:nvPr>
            <p:ph type="title"/>
          </p:nvPr>
        </p:nvSpPr>
        <p:spPr>
          <a:xfrm>
            <a:off x="2591675" y="3493075"/>
            <a:ext cx="59922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1" lang="en">
                <a:latin typeface="Times New Roman"/>
                <a:ea typeface="Times New Roman"/>
                <a:cs typeface="Times New Roman"/>
                <a:sym typeface="Times New Roman"/>
              </a:rPr>
              <a:t>ASK US ANYTHING!!</a:t>
            </a:r>
            <a:endParaRPr b="1">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cxnSp>
        <p:nvCxnSpPr>
          <p:cNvPr id="694" name="Google Shape;694;p75"/>
          <p:cNvCxnSpPr/>
          <p:nvPr/>
        </p:nvCxnSpPr>
        <p:spPr>
          <a:xfrm>
            <a:off x="5260800" y="278400"/>
            <a:ext cx="0" cy="4581900"/>
          </a:xfrm>
          <a:prstGeom prst="straightConnector1">
            <a:avLst/>
          </a:prstGeom>
          <a:noFill/>
          <a:ln cap="flat" cmpd="sng" w="9525">
            <a:solidFill>
              <a:schemeClr val="dk2"/>
            </a:solidFill>
            <a:prstDash val="solid"/>
            <a:round/>
            <a:headEnd len="med" w="med" type="none"/>
            <a:tailEnd len="med" w="med" type="none"/>
          </a:ln>
        </p:spPr>
      </p:cxnSp>
      <p:sp>
        <p:nvSpPr>
          <p:cNvPr id="695" name="Google Shape;695;p7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696" name="Google Shape;696;p75"/>
          <p:cNvPicPr preferRelativeResize="0"/>
          <p:nvPr/>
        </p:nvPicPr>
        <p:blipFill rotWithShape="1">
          <a:blip r:embed="rId3">
            <a:alphaModFix/>
          </a:blip>
          <a:srcRect b="54586" l="0" r="0" t="0"/>
          <a:stretch/>
        </p:blipFill>
        <p:spPr>
          <a:xfrm>
            <a:off x="1578825" y="2092850"/>
            <a:ext cx="8839199" cy="1096925"/>
          </a:xfrm>
          <a:prstGeom prst="rect">
            <a:avLst/>
          </a:prstGeom>
          <a:noFill/>
          <a:ln>
            <a:noFill/>
          </a:ln>
        </p:spPr>
      </p:pic>
      <p:pic>
        <p:nvPicPr>
          <p:cNvPr id="697" name="Google Shape;697;p75"/>
          <p:cNvPicPr preferRelativeResize="0"/>
          <p:nvPr/>
        </p:nvPicPr>
        <p:blipFill>
          <a:blip r:embed="rId4">
            <a:alphaModFix/>
          </a:blip>
          <a:stretch>
            <a:fillRect/>
          </a:stretch>
        </p:blipFill>
        <p:spPr>
          <a:xfrm>
            <a:off x="7283300" y="3402425"/>
            <a:ext cx="1302500" cy="1302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